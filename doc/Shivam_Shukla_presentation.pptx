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DB362C-63A4-4EDB-8C14-367DE03DBA4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C15BD6B-A03A-4553-81D6-631654D62DE0}">
      <dgm:prSet/>
      <dgm:spPr/>
      <dgm:t>
        <a:bodyPr/>
        <a:lstStyle/>
        <a:p>
          <a:r>
            <a:rPr lang="en-US"/>
            <a:t>Goal: Test whether financial news sentiment predicts daily S&amp;P 500 returns.</a:t>
          </a:r>
        </a:p>
      </dgm:t>
    </dgm:pt>
    <dgm:pt modelId="{03E97C52-BE21-41E2-AD80-92C60CC6ACB6}" type="parTrans" cxnId="{97E801F4-966A-43A0-ACF4-F0D124842CEC}">
      <dgm:prSet/>
      <dgm:spPr/>
      <dgm:t>
        <a:bodyPr/>
        <a:lstStyle/>
        <a:p>
          <a:endParaRPr lang="en-US"/>
        </a:p>
      </dgm:t>
    </dgm:pt>
    <dgm:pt modelId="{F05590A7-BFF8-481A-8688-C32E2606F0ED}" type="sibTrans" cxnId="{97E801F4-966A-43A0-ACF4-F0D124842CEC}">
      <dgm:prSet/>
      <dgm:spPr/>
      <dgm:t>
        <a:bodyPr/>
        <a:lstStyle/>
        <a:p>
          <a:endParaRPr lang="en-US"/>
        </a:p>
      </dgm:t>
    </dgm:pt>
    <dgm:pt modelId="{C16E93AA-6BFF-4B69-9A33-800801618114}">
      <dgm:prSet/>
      <dgm:spPr/>
      <dgm:t>
        <a:bodyPr/>
        <a:lstStyle/>
        <a:p>
          <a:r>
            <a:rPr lang="en-US"/>
            <a:t>Approach: VADER labeling → Linear SVC sentiment model → daily sentiment index.</a:t>
          </a:r>
        </a:p>
      </dgm:t>
    </dgm:pt>
    <dgm:pt modelId="{3E956FFD-28B3-430F-B4C2-B667EF4D554A}" type="parTrans" cxnId="{643EC1D8-8C63-43B9-9FDE-B8BBEDDE6B60}">
      <dgm:prSet/>
      <dgm:spPr/>
      <dgm:t>
        <a:bodyPr/>
        <a:lstStyle/>
        <a:p>
          <a:endParaRPr lang="en-US"/>
        </a:p>
      </dgm:t>
    </dgm:pt>
    <dgm:pt modelId="{C1E39DB0-CEDA-42A3-AA63-14C8CCBD8AF2}" type="sibTrans" cxnId="{643EC1D8-8C63-43B9-9FDE-B8BBEDDE6B60}">
      <dgm:prSet/>
      <dgm:spPr/>
      <dgm:t>
        <a:bodyPr/>
        <a:lstStyle/>
        <a:p>
          <a:endParaRPr lang="en-US"/>
        </a:p>
      </dgm:t>
    </dgm:pt>
    <dgm:pt modelId="{3C2E30C2-8BFA-4D98-895E-E42D47BE0F55}">
      <dgm:prSet/>
      <dgm:spPr/>
      <dgm:t>
        <a:bodyPr/>
        <a:lstStyle/>
        <a:p>
          <a:r>
            <a:rPr lang="en-US"/>
            <a:t>Then merged with S&amp;P 500 returns and VIX to analyze relationships.</a:t>
          </a:r>
        </a:p>
      </dgm:t>
    </dgm:pt>
    <dgm:pt modelId="{08E0F88C-9957-4417-9398-7E32345EB91D}" type="parTrans" cxnId="{D29F3948-D0D1-45E7-88BF-6B61255C4778}">
      <dgm:prSet/>
      <dgm:spPr/>
      <dgm:t>
        <a:bodyPr/>
        <a:lstStyle/>
        <a:p>
          <a:endParaRPr lang="en-US"/>
        </a:p>
      </dgm:t>
    </dgm:pt>
    <dgm:pt modelId="{8FF9E2AD-4481-4DB4-B3B1-9041CFB1D9F4}" type="sibTrans" cxnId="{D29F3948-D0D1-45E7-88BF-6B61255C4778}">
      <dgm:prSet/>
      <dgm:spPr/>
      <dgm:t>
        <a:bodyPr/>
        <a:lstStyle/>
        <a:p>
          <a:endParaRPr lang="en-US"/>
        </a:p>
      </dgm:t>
    </dgm:pt>
    <dgm:pt modelId="{F7E08E52-0CF5-45E2-A067-07110FBB2FE7}" type="pres">
      <dgm:prSet presAssocID="{4CDB362C-63A4-4EDB-8C14-367DE03DBA4E}" presName="outerComposite" presStyleCnt="0">
        <dgm:presLayoutVars>
          <dgm:chMax val="5"/>
          <dgm:dir/>
          <dgm:resizeHandles val="exact"/>
        </dgm:presLayoutVars>
      </dgm:prSet>
      <dgm:spPr/>
    </dgm:pt>
    <dgm:pt modelId="{EEB44275-C357-45AD-9BB0-4B75121278B1}" type="pres">
      <dgm:prSet presAssocID="{4CDB362C-63A4-4EDB-8C14-367DE03DBA4E}" presName="dummyMaxCanvas" presStyleCnt="0">
        <dgm:presLayoutVars/>
      </dgm:prSet>
      <dgm:spPr/>
    </dgm:pt>
    <dgm:pt modelId="{FCCC5796-80B0-4E67-B013-4AFD0AD793CC}" type="pres">
      <dgm:prSet presAssocID="{4CDB362C-63A4-4EDB-8C14-367DE03DBA4E}" presName="ThreeNodes_1" presStyleLbl="node1" presStyleIdx="0" presStyleCnt="3">
        <dgm:presLayoutVars>
          <dgm:bulletEnabled val="1"/>
        </dgm:presLayoutVars>
      </dgm:prSet>
      <dgm:spPr/>
    </dgm:pt>
    <dgm:pt modelId="{FAFC88B7-F580-4F61-A821-832980B3455A}" type="pres">
      <dgm:prSet presAssocID="{4CDB362C-63A4-4EDB-8C14-367DE03DBA4E}" presName="ThreeNodes_2" presStyleLbl="node1" presStyleIdx="1" presStyleCnt="3">
        <dgm:presLayoutVars>
          <dgm:bulletEnabled val="1"/>
        </dgm:presLayoutVars>
      </dgm:prSet>
      <dgm:spPr/>
    </dgm:pt>
    <dgm:pt modelId="{1616DB46-EC7C-4941-81E1-14A233418CA2}" type="pres">
      <dgm:prSet presAssocID="{4CDB362C-63A4-4EDB-8C14-367DE03DBA4E}" presName="ThreeNodes_3" presStyleLbl="node1" presStyleIdx="2" presStyleCnt="3">
        <dgm:presLayoutVars>
          <dgm:bulletEnabled val="1"/>
        </dgm:presLayoutVars>
      </dgm:prSet>
      <dgm:spPr/>
    </dgm:pt>
    <dgm:pt modelId="{C3E61391-C0F4-4E83-B8E3-A9670C458993}" type="pres">
      <dgm:prSet presAssocID="{4CDB362C-63A4-4EDB-8C14-367DE03DBA4E}" presName="ThreeConn_1-2" presStyleLbl="fgAccFollowNode1" presStyleIdx="0" presStyleCnt="2">
        <dgm:presLayoutVars>
          <dgm:bulletEnabled val="1"/>
        </dgm:presLayoutVars>
      </dgm:prSet>
      <dgm:spPr/>
    </dgm:pt>
    <dgm:pt modelId="{99636DBF-6DA9-456F-95A6-EFC06419E548}" type="pres">
      <dgm:prSet presAssocID="{4CDB362C-63A4-4EDB-8C14-367DE03DBA4E}" presName="ThreeConn_2-3" presStyleLbl="fgAccFollowNode1" presStyleIdx="1" presStyleCnt="2">
        <dgm:presLayoutVars>
          <dgm:bulletEnabled val="1"/>
        </dgm:presLayoutVars>
      </dgm:prSet>
      <dgm:spPr/>
    </dgm:pt>
    <dgm:pt modelId="{929B3981-C2E5-4CCB-940A-5887E32AEA48}" type="pres">
      <dgm:prSet presAssocID="{4CDB362C-63A4-4EDB-8C14-367DE03DBA4E}" presName="ThreeNodes_1_text" presStyleLbl="node1" presStyleIdx="2" presStyleCnt="3">
        <dgm:presLayoutVars>
          <dgm:bulletEnabled val="1"/>
        </dgm:presLayoutVars>
      </dgm:prSet>
      <dgm:spPr/>
    </dgm:pt>
    <dgm:pt modelId="{D43D2968-3A97-4D5C-84D5-3095D385EAAB}" type="pres">
      <dgm:prSet presAssocID="{4CDB362C-63A4-4EDB-8C14-367DE03DBA4E}" presName="ThreeNodes_2_text" presStyleLbl="node1" presStyleIdx="2" presStyleCnt="3">
        <dgm:presLayoutVars>
          <dgm:bulletEnabled val="1"/>
        </dgm:presLayoutVars>
      </dgm:prSet>
      <dgm:spPr/>
    </dgm:pt>
    <dgm:pt modelId="{72002D69-B401-43E0-971F-F1C76B3D8AC1}" type="pres">
      <dgm:prSet presAssocID="{4CDB362C-63A4-4EDB-8C14-367DE03DBA4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120F104-034D-497C-B2A1-9C3A1EF8A05C}" type="presOf" srcId="{F05590A7-BFF8-481A-8688-C32E2606F0ED}" destId="{C3E61391-C0F4-4E83-B8E3-A9670C458993}" srcOrd="0" destOrd="0" presId="urn:microsoft.com/office/officeart/2005/8/layout/vProcess5"/>
    <dgm:cxn modelId="{9DB0982B-0FA1-4BE6-B6CD-0788EBED4DB0}" type="presOf" srcId="{C16E93AA-6BFF-4B69-9A33-800801618114}" destId="{D43D2968-3A97-4D5C-84D5-3095D385EAAB}" srcOrd="1" destOrd="0" presId="urn:microsoft.com/office/officeart/2005/8/layout/vProcess5"/>
    <dgm:cxn modelId="{577F3562-04BF-4502-B872-064297BAF240}" type="presOf" srcId="{EC15BD6B-A03A-4553-81D6-631654D62DE0}" destId="{FCCC5796-80B0-4E67-B013-4AFD0AD793CC}" srcOrd="0" destOrd="0" presId="urn:microsoft.com/office/officeart/2005/8/layout/vProcess5"/>
    <dgm:cxn modelId="{D29F3948-D0D1-45E7-88BF-6B61255C4778}" srcId="{4CDB362C-63A4-4EDB-8C14-367DE03DBA4E}" destId="{3C2E30C2-8BFA-4D98-895E-E42D47BE0F55}" srcOrd="2" destOrd="0" parTransId="{08E0F88C-9957-4417-9398-7E32345EB91D}" sibTransId="{8FF9E2AD-4481-4DB4-B3B1-9041CFB1D9F4}"/>
    <dgm:cxn modelId="{E3C3384B-2293-4668-A636-F97193CB8084}" type="presOf" srcId="{4CDB362C-63A4-4EDB-8C14-367DE03DBA4E}" destId="{F7E08E52-0CF5-45E2-A067-07110FBB2FE7}" srcOrd="0" destOrd="0" presId="urn:microsoft.com/office/officeart/2005/8/layout/vProcess5"/>
    <dgm:cxn modelId="{7866E198-472A-4832-BC38-9CB696E3AA5A}" type="presOf" srcId="{C1E39DB0-CEDA-42A3-AA63-14C8CCBD8AF2}" destId="{99636DBF-6DA9-456F-95A6-EFC06419E548}" srcOrd="0" destOrd="0" presId="urn:microsoft.com/office/officeart/2005/8/layout/vProcess5"/>
    <dgm:cxn modelId="{BA4232AF-C870-4039-BBF5-C2D8ACAE9B82}" type="presOf" srcId="{3C2E30C2-8BFA-4D98-895E-E42D47BE0F55}" destId="{1616DB46-EC7C-4941-81E1-14A233418CA2}" srcOrd="0" destOrd="0" presId="urn:microsoft.com/office/officeart/2005/8/layout/vProcess5"/>
    <dgm:cxn modelId="{2CA910BD-36F2-4980-8B43-2B93594F5EA5}" type="presOf" srcId="{3C2E30C2-8BFA-4D98-895E-E42D47BE0F55}" destId="{72002D69-B401-43E0-971F-F1C76B3D8AC1}" srcOrd="1" destOrd="0" presId="urn:microsoft.com/office/officeart/2005/8/layout/vProcess5"/>
    <dgm:cxn modelId="{643EC1D8-8C63-43B9-9FDE-B8BBEDDE6B60}" srcId="{4CDB362C-63A4-4EDB-8C14-367DE03DBA4E}" destId="{C16E93AA-6BFF-4B69-9A33-800801618114}" srcOrd="1" destOrd="0" parTransId="{3E956FFD-28B3-430F-B4C2-B667EF4D554A}" sibTransId="{C1E39DB0-CEDA-42A3-AA63-14C8CCBD8AF2}"/>
    <dgm:cxn modelId="{9E735AF1-00E6-4511-B65E-6399235994D4}" type="presOf" srcId="{C16E93AA-6BFF-4B69-9A33-800801618114}" destId="{FAFC88B7-F580-4F61-A821-832980B3455A}" srcOrd="0" destOrd="0" presId="urn:microsoft.com/office/officeart/2005/8/layout/vProcess5"/>
    <dgm:cxn modelId="{97E801F4-966A-43A0-ACF4-F0D124842CEC}" srcId="{4CDB362C-63A4-4EDB-8C14-367DE03DBA4E}" destId="{EC15BD6B-A03A-4553-81D6-631654D62DE0}" srcOrd="0" destOrd="0" parTransId="{03E97C52-BE21-41E2-AD80-92C60CC6ACB6}" sibTransId="{F05590A7-BFF8-481A-8688-C32E2606F0ED}"/>
    <dgm:cxn modelId="{95B09DFF-AA24-4883-A27F-5FFD7CDC915B}" type="presOf" srcId="{EC15BD6B-A03A-4553-81D6-631654D62DE0}" destId="{929B3981-C2E5-4CCB-940A-5887E32AEA48}" srcOrd="1" destOrd="0" presId="urn:microsoft.com/office/officeart/2005/8/layout/vProcess5"/>
    <dgm:cxn modelId="{E606430C-465F-432F-90EB-9EB166CF6087}" type="presParOf" srcId="{F7E08E52-0CF5-45E2-A067-07110FBB2FE7}" destId="{EEB44275-C357-45AD-9BB0-4B75121278B1}" srcOrd="0" destOrd="0" presId="urn:microsoft.com/office/officeart/2005/8/layout/vProcess5"/>
    <dgm:cxn modelId="{C322FAC6-75C3-4596-8EBA-5DB5C1885292}" type="presParOf" srcId="{F7E08E52-0CF5-45E2-A067-07110FBB2FE7}" destId="{FCCC5796-80B0-4E67-B013-4AFD0AD793CC}" srcOrd="1" destOrd="0" presId="urn:microsoft.com/office/officeart/2005/8/layout/vProcess5"/>
    <dgm:cxn modelId="{FD9F3B97-4A66-496D-8FF6-72022D6F37B1}" type="presParOf" srcId="{F7E08E52-0CF5-45E2-A067-07110FBB2FE7}" destId="{FAFC88B7-F580-4F61-A821-832980B3455A}" srcOrd="2" destOrd="0" presId="urn:microsoft.com/office/officeart/2005/8/layout/vProcess5"/>
    <dgm:cxn modelId="{0AD890E1-0349-4D94-B9A9-B5FAF69B0BB3}" type="presParOf" srcId="{F7E08E52-0CF5-45E2-A067-07110FBB2FE7}" destId="{1616DB46-EC7C-4941-81E1-14A233418CA2}" srcOrd="3" destOrd="0" presId="urn:microsoft.com/office/officeart/2005/8/layout/vProcess5"/>
    <dgm:cxn modelId="{FBE0F2B1-C9A1-4D71-A223-4556C5E89091}" type="presParOf" srcId="{F7E08E52-0CF5-45E2-A067-07110FBB2FE7}" destId="{C3E61391-C0F4-4E83-B8E3-A9670C458993}" srcOrd="4" destOrd="0" presId="urn:microsoft.com/office/officeart/2005/8/layout/vProcess5"/>
    <dgm:cxn modelId="{9C92E4C8-1246-466C-870F-D806FB21E63A}" type="presParOf" srcId="{F7E08E52-0CF5-45E2-A067-07110FBB2FE7}" destId="{99636DBF-6DA9-456F-95A6-EFC06419E548}" srcOrd="5" destOrd="0" presId="urn:microsoft.com/office/officeart/2005/8/layout/vProcess5"/>
    <dgm:cxn modelId="{6C4F27B3-D91B-4394-B967-5F577D291F34}" type="presParOf" srcId="{F7E08E52-0CF5-45E2-A067-07110FBB2FE7}" destId="{929B3981-C2E5-4CCB-940A-5887E32AEA48}" srcOrd="6" destOrd="0" presId="urn:microsoft.com/office/officeart/2005/8/layout/vProcess5"/>
    <dgm:cxn modelId="{756A71B1-0845-4348-B292-03185509623B}" type="presParOf" srcId="{F7E08E52-0CF5-45E2-A067-07110FBB2FE7}" destId="{D43D2968-3A97-4D5C-84D5-3095D385EAAB}" srcOrd="7" destOrd="0" presId="urn:microsoft.com/office/officeart/2005/8/layout/vProcess5"/>
    <dgm:cxn modelId="{4F0B80E6-8700-4487-A528-CA8BA09EB9CE}" type="presParOf" srcId="{F7E08E52-0CF5-45E2-A067-07110FBB2FE7}" destId="{72002D69-B401-43E0-971F-F1C76B3D8AC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89FCF-F83E-4386-8A28-E8788C7F30E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5E07662-619F-40B7-A3CF-8A3D29AB9581}">
      <dgm:prSet/>
      <dgm:spPr/>
      <dgm:t>
        <a:bodyPr/>
        <a:lstStyle/>
        <a:p>
          <a:r>
            <a:rPr lang="en-US"/>
            <a:t>1) Financial News Headlines (CNBC, Guardian, Reuters) — Kaggle CSV (~50k rows)</a:t>
          </a:r>
        </a:p>
      </dgm:t>
    </dgm:pt>
    <dgm:pt modelId="{6D6EC2DD-70B0-4163-A194-27E13E9DF544}" type="parTrans" cxnId="{0056C7F3-2C32-48BD-B3B3-1F7CA81D7760}">
      <dgm:prSet/>
      <dgm:spPr/>
      <dgm:t>
        <a:bodyPr/>
        <a:lstStyle/>
        <a:p>
          <a:endParaRPr lang="en-US"/>
        </a:p>
      </dgm:t>
    </dgm:pt>
    <dgm:pt modelId="{2A0373A4-6AF1-45E1-A60D-C033E11B5E3B}" type="sibTrans" cxnId="{0056C7F3-2C32-48BD-B3B3-1F7CA81D7760}">
      <dgm:prSet/>
      <dgm:spPr/>
      <dgm:t>
        <a:bodyPr/>
        <a:lstStyle/>
        <a:p>
          <a:endParaRPr lang="en-US"/>
        </a:p>
      </dgm:t>
    </dgm:pt>
    <dgm:pt modelId="{586988B1-B470-473F-9D69-B5CEE0AF5860}">
      <dgm:prSet/>
      <dgm:spPr/>
      <dgm:t>
        <a:bodyPr/>
        <a:lstStyle/>
        <a:p>
          <a:r>
            <a:rPr lang="en-US"/>
            <a:t>2) S&amp;P 500 Index (^GSPC) — Yahoo Finance API (daily OHLCV)</a:t>
          </a:r>
        </a:p>
      </dgm:t>
    </dgm:pt>
    <dgm:pt modelId="{A102EDFE-237D-4060-B961-FF94C15FD4BC}" type="parTrans" cxnId="{13A52797-EFE3-4649-B47E-0412CC8542AF}">
      <dgm:prSet/>
      <dgm:spPr/>
      <dgm:t>
        <a:bodyPr/>
        <a:lstStyle/>
        <a:p>
          <a:endParaRPr lang="en-US"/>
        </a:p>
      </dgm:t>
    </dgm:pt>
    <dgm:pt modelId="{AD262FDE-FA32-4107-86E6-34573AB11809}" type="sibTrans" cxnId="{13A52797-EFE3-4649-B47E-0412CC8542AF}">
      <dgm:prSet/>
      <dgm:spPr/>
      <dgm:t>
        <a:bodyPr/>
        <a:lstStyle/>
        <a:p>
          <a:endParaRPr lang="en-US"/>
        </a:p>
      </dgm:t>
    </dgm:pt>
    <dgm:pt modelId="{8425520A-2F7C-4BCB-AA41-CD0EE06B3147}">
      <dgm:prSet/>
      <dgm:spPr/>
      <dgm:t>
        <a:bodyPr/>
        <a:lstStyle/>
        <a:p>
          <a:r>
            <a:rPr lang="en-US"/>
            <a:t>3) VIX Index (^VIX) — Yahoo Finance API (daily close)</a:t>
          </a:r>
        </a:p>
      </dgm:t>
    </dgm:pt>
    <dgm:pt modelId="{D124D1E6-3366-4F02-80F8-64BE5E5E53B4}" type="parTrans" cxnId="{6F002EE9-2141-43AD-A254-D08FA04CB61D}">
      <dgm:prSet/>
      <dgm:spPr/>
      <dgm:t>
        <a:bodyPr/>
        <a:lstStyle/>
        <a:p>
          <a:endParaRPr lang="en-US"/>
        </a:p>
      </dgm:t>
    </dgm:pt>
    <dgm:pt modelId="{0C547EB2-0785-41ED-98CD-0815AB45C8D5}" type="sibTrans" cxnId="{6F002EE9-2141-43AD-A254-D08FA04CB61D}">
      <dgm:prSet/>
      <dgm:spPr/>
      <dgm:t>
        <a:bodyPr/>
        <a:lstStyle/>
        <a:p>
          <a:endParaRPr lang="en-US"/>
        </a:p>
      </dgm:t>
    </dgm:pt>
    <dgm:pt modelId="{0514749C-4628-451D-9FB4-C9E47D68A4E8}">
      <dgm:prSet/>
      <dgm:spPr/>
      <dgm:t>
        <a:bodyPr/>
        <a:lstStyle/>
        <a:p>
          <a:r>
            <a:rPr lang="en-US"/>
            <a:t>All datasets merged by date; analysis uses window with sentiment available.</a:t>
          </a:r>
        </a:p>
      </dgm:t>
    </dgm:pt>
    <dgm:pt modelId="{656719F8-814D-4118-9246-7108FD2C9DBB}" type="parTrans" cxnId="{4A63BB1C-EB5A-43E4-9326-BEDE7145E8A0}">
      <dgm:prSet/>
      <dgm:spPr/>
      <dgm:t>
        <a:bodyPr/>
        <a:lstStyle/>
        <a:p>
          <a:endParaRPr lang="en-US"/>
        </a:p>
      </dgm:t>
    </dgm:pt>
    <dgm:pt modelId="{E361166B-42CC-4680-94FD-06F6BBCD8A80}" type="sibTrans" cxnId="{4A63BB1C-EB5A-43E4-9326-BEDE7145E8A0}">
      <dgm:prSet/>
      <dgm:spPr/>
      <dgm:t>
        <a:bodyPr/>
        <a:lstStyle/>
        <a:p>
          <a:endParaRPr lang="en-US"/>
        </a:p>
      </dgm:t>
    </dgm:pt>
    <dgm:pt modelId="{83635B7B-5D9B-41F8-AB38-1D6756820660}" type="pres">
      <dgm:prSet presAssocID="{DB789FCF-F83E-4386-8A28-E8788C7F30EF}" presName="outerComposite" presStyleCnt="0">
        <dgm:presLayoutVars>
          <dgm:chMax val="5"/>
          <dgm:dir/>
          <dgm:resizeHandles val="exact"/>
        </dgm:presLayoutVars>
      </dgm:prSet>
      <dgm:spPr/>
    </dgm:pt>
    <dgm:pt modelId="{73C65645-FFBD-40D9-8465-77A71F95020D}" type="pres">
      <dgm:prSet presAssocID="{DB789FCF-F83E-4386-8A28-E8788C7F30EF}" presName="dummyMaxCanvas" presStyleCnt="0">
        <dgm:presLayoutVars/>
      </dgm:prSet>
      <dgm:spPr/>
    </dgm:pt>
    <dgm:pt modelId="{B8898E2A-F69D-48A8-9361-A51FA658EDAC}" type="pres">
      <dgm:prSet presAssocID="{DB789FCF-F83E-4386-8A28-E8788C7F30EF}" presName="FourNodes_1" presStyleLbl="node1" presStyleIdx="0" presStyleCnt="4">
        <dgm:presLayoutVars>
          <dgm:bulletEnabled val="1"/>
        </dgm:presLayoutVars>
      </dgm:prSet>
      <dgm:spPr/>
    </dgm:pt>
    <dgm:pt modelId="{73AECE94-4910-4777-97B1-1418BB0BEA69}" type="pres">
      <dgm:prSet presAssocID="{DB789FCF-F83E-4386-8A28-E8788C7F30EF}" presName="FourNodes_2" presStyleLbl="node1" presStyleIdx="1" presStyleCnt="4">
        <dgm:presLayoutVars>
          <dgm:bulletEnabled val="1"/>
        </dgm:presLayoutVars>
      </dgm:prSet>
      <dgm:spPr/>
    </dgm:pt>
    <dgm:pt modelId="{3E1874D9-560E-4A9A-AB81-7306970E36C5}" type="pres">
      <dgm:prSet presAssocID="{DB789FCF-F83E-4386-8A28-E8788C7F30EF}" presName="FourNodes_3" presStyleLbl="node1" presStyleIdx="2" presStyleCnt="4">
        <dgm:presLayoutVars>
          <dgm:bulletEnabled val="1"/>
        </dgm:presLayoutVars>
      </dgm:prSet>
      <dgm:spPr/>
    </dgm:pt>
    <dgm:pt modelId="{4BB32A10-067F-45EC-A26D-7DD935FE5FD7}" type="pres">
      <dgm:prSet presAssocID="{DB789FCF-F83E-4386-8A28-E8788C7F30EF}" presName="FourNodes_4" presStyleLbl="node1" presStyleIdx="3" presStyleCnt="4">
        <dgm:presLayoutVars>
          <dgm:bulletEnabled val="1"/>
        </dgm:presLayoutVars>
      </dgm:prSet>
      <dgm:spPr/>
    </dgm:pt>
    <dgm:pt modelId="{D907048B-A2CA-4FFE-92FA-D571CBCA2E10}" type="pres">
      <dgm:prSet presAssocID="{DB789FCF-F83E-4386-8A28-E8788C7F30EF}" presName="FourConn_1-2" presStyleLbl="fgAccFollowNode1" presStyleIdx="0" presStyleCnt="3">
        <dgm:presLayoutVars>
          <dgm:bulletEnabled val="1"/>
        </dgm:presLayoutVars>
      </dgm:prSet>
      <dgm:spPr/>
    </dgm:pt>
    <dgm:pt modelId="{044979E5-E7F7-40C6-BA21-C22CA10E8003}" type="pres">
      <dgm:prSet presAssocID="{DB789FCF-F83E-4386-8A28-E8788C7F30EF}" presName="FourConn_2-3" presStyleLbl="fgAccFollowNode1" presStyleIdx="1" presStyleCnt="3">
        <dgm:presLayoutVars>
          <dgm:bulletEnabled val="1"/>
        </dgm:presLayoutVars>
      </dgm:prSet>
      <dgm:spPr/>
    </dgm:pt>
    <dgm:pt modelId="{6B2A106F-218A-4253-ABA1-94512BA67E50}" type="pres">
      <dgm:prSet presAssocID="{DB789FCF-F83E-4386-8A28-E8788C7F30EF}" presName="FourConn_3-4" presStyleLbl="fgAccFollowNode1" presStyleIdx="2" presStyleCnt="3">
        <dgm:presLayoutVars>
          <dgm:bulletEnabled val="1"/>
        </dgm:presLayoutVars>
      </dgm:prSet>
      <dgm:spPr/>
    </dgm:pt>
    <dgm:pt modelId="{E7E73A31-076C-403F-8EC4-E8DD58501107}" type="pres">
      <dgm:prSet presAssocID="{DB789FCF-F83E-4386-8A28-E8788C7F30EF}" presName="FourNodes_1_text" presStyleLbl="node1" presStyleIdx="3" presStyleCnt="4">
        <dgm:presLayoutVars>
          <dgm:bulletEnabled val="1"/>
        </dgm:presLayoutVars>
      </dgm:prSet>
      <dgm:spPr/>
    </dgm:pt>
    <dgm:pt modelId="{C1DD108F-B3CF-4DAD-8AE2-E77A47D4665E}" type="pres">
      <dgm:prSet presAssocID="{DB789FCF-F83E-4386-8A28-E8788C7F30EF}" presName="FourNodes_2_text" presStyleLbl="node1" presStyleIdx="3" presStyleCnt="4">
        <dgm:presLayoutVars>
          <dgm:bulletEnabled val="1"/>
        </dgm:presLayoutVars>
      </dgm:prSet>
      <dgm:spPr/>
    </dgm:pt>
    <dgm:pt modelId="{88E06D9D-AC23-4F83-B33F-128F64BF5846}" type="pres">
      <dgm:prSet presAssocID="{DB789FCF-F83E-4386-8A28-E8788C7F30EF}" presName="FourNodes_3_text" presStyleLbl="node1" presStyleIdx="3" presStyleCnt="4">
        <dgm:presLayoutVars>
          <dgm:bulletEnabled val="1"/>
        </dgm:presLayoutVars>
      </dgm:prSet>
      <dgm:spPr/>
    </dgm:pt>
    <dgm:pt modelId="{91DC810D-4E98-4642-B4B4-B8C26542AEAA}" type="pres">
      <dgm:prSet presAssocID="{DB789FCF-F83E-4386-8A28-E8788C7F30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352C016-D96D-4A9E-8FC8-E189C271FEC3}" type="presOf" srcId="{8425520A-2F7C-4BCB-AA41-CD0EE06B3147}" destId="{3E1874D9-560E-4A9A-AB81-7306970E36C5}" srcOrd="0" destOrd="0" presId="urn:microsoft.com/office/officeart/2005/8/layout/vProcess5"/>
    <dgm:cxn modelId="{ABBCC01A-4978-4C90-9777-B2F2BFAABF0C}" type="presOf" srcId="{AD262FDE-FA32-4107-86E6-34573AB11809}" destId="{044979E5-E7F7-40C6-BA21-C22CA10E8003}" srcOrd="0" destOrd="0" presId="urn:microsoft.com/office/officeart/2005/8/layout/vProcess5"/>
    <dgm:cxn modelId="{9087601C-185D-40EC-BF3A-98FE407B13E2}" type="presOf" srcId="{0514749C-4628-451D-9FB4-C9E47D68A4E8}" destId="{4BB32A10-067F-45EC-A26D-7DD935FE5FD7}" srcOrd="0" destOrd="0" presId="urn:microsoft.com/office/officeart/2005/8/layout/vProcess5"/>
    <dgm:cxn modelId="{4A63BB1C-EB5A-43E4-9326-BEDE7145E8A0}" srcId="{DB789FCF-F83E-4386-8A28-E8788C7F30EF}" destId="{0514749C-4628-451D-9FB4-C9E47D68A4E8}" srcOrd="3" destOrd="0" parTransId="{656719F8-814D-4118-9246-7108FD2C9DBB}" sibTransId="{E361166B-42CC-4680-94FD-06F6BBCD8A80}"/>
    <dgm:cxn modelId="{05307940-B08C-433F-A980-92E449F943B7}" type="presOf" srcId="{DB789FCF-F83E-4386-8A28-E8788C7F30EF}" destId="{83635B7B-5D9B-41F8-AB38-1D6756820660}" srcOrd="0" destOrd="0" presId="urn:microsoft.com/office/officeart/2005/8/layout/vProcess5"/>
    <dgm:cxn modelId="{EBB3876F-9ADB-49D0-BBEA-ED825313CC4A}" type="presOf" srcId="{586988B1-B470-473F-9D69-B5CEE0AF5860}" destId="{73AECE94-4910-4777-97B1-1418BB0BEA69}" srcOrd="0" destOrd="0" presId="urn:microsoft.com/office/officeart/2005/8/layout/vProcess5"/>
    <dgm:cxn modelId="{13A52797-EFE3-4649-B47E-0412CC8542AF}" srcId="{DB789FCF-F83E-4386-8A28-E8788C7F30EF}" destId="{586988B1-B470-473F-9D69-B5CEE0AF5860}" srcOrd="1" destOrd="0" parTransId="{A102EDFE-237D-4060-B961-FF94C15FD4BC}" sibTransId="{AD262FDE-FA32-4107-86E6-34573AB11809}"/>
    <dgm:cxn modelId="{6CA78AA2-C1A0-4454-886C-04DD0B4B6EA4}" type="presOf" srcId="{0C547EB2-0785-41ED-98CD-0815AB45C8D5}" destId="{6B2A106F-218A-4253-ABA1-94512BA67E50}" srcOrd="0" destOrd="0" presId="urn:microsoft.com/office/officeart/2005/8/layout/vProcess5"/>
    <dgm:cxn modelId="{212E11AA-3628-4DCD-B4CD-37FA569C7AEB}" type="presOf" srcId="{55E07662-619F-40B7-A3CF-8A3D29AB9581}" destId="{B8898E2A-F69D-48A8-9361-A51FA658EDAC}" srcOrd="0" destOrd="0" presId="urn:microsoft.com/office/officeart/2005/8/layout/vProcess5"/>
    <dgm:cxn modelId="{2F7C79B6-BA7D-4F64-A402-779D1BAFA219}" type="presOf" srcId="{2A0373A4-6AF1-45E1-A60D-C033E11B5E3B}" destId="{D907048B-A2CA-4FFE-92FA-D571CBCA2E10}" srcOrd="0" destOrd="0" presId="urn:microsoft.com/office/officeart/2005/8/layout/vProcess5"/>
    <dgm:cxn modelId="{62CB62D1-8CB1-423F-A1F4-ED6E4C55F4C2}" type="presOf" srcId="{586988B1-B470-473F-9D69-B5CEE0AF5860}" destId="{C1DD108F-B3CF-4DAD-8AE2-E77A47D4665E}" srcOrd="1" destOrd="0" presId="urn:microsoft.com/office/officeart/2005/8/layout/vProcess5"/>
    <dgm:cxn modelId="{AE8FD4D2-581F-4E96-8DEF-E56C7FDD7341}" type="presOf" srcId="{0514749C-4628-451D-9FB4-C9E47D68A4E8}" destId="{91DC810D-4E98-4642-B4B4-B8C26542AEAA}" srcOrd="1" destOrd="0" presId="urn:microsoft.com/office/officeart/2005/8/layout/vProcess5"/>
    <dgm:cxn modelId="{93DA68E7-7DE7-437E-81C7-73A5A77603D7}" type="presOf" srcId="{8425520A-2F7C-4BCB-AA41-CD0EE06B3147}" destId="{88E06D9D-AC23-4F83-B33F-128F64BF5846}" srcOrd="1" destOrd="0" presId="urn:microsoft.com/office/officeart/2005/8/layout/vProcess5"/>
    <dgm:cxn modelId="{6F002EE9-2141-43AD-A254-D08FA04CB61D}" srcId="{DB789FCF-F83E-4386-8A28-E8788C7F30EF}" destId="{8425520A-2F7C-4BCB-AA41-CD0EE06B3147}" srcOrd="2" destOrd="0" parTransId="{D124D1E6-3366-4F02-80F8-64BE5E5E53B4}" sibTransId="{0C547EB2-0785-41ED-98CD-0815AB45C8D5}"/>
    <dgm:cxn modelId="{0056C7F3-2C32-48BD-B3B3-1F7CA81D7760}" srcId="{DB789FCF-F83E-4386-8A28-E8788C7F30EF}" destId="{55E07662-619F-40B7-A3CF-8A3D29AB9581}" srcOrd="0" destOrd="0" parTransId="{6D6EC2DD-70B0-4163-A194-27E13E9DF544}" sibTransId="{2A0373A4-6AF1-45E1-A60D-C033E11B5E3B}"/>
    <dgm:cxn modelId="{299BA7F7-4DAD-42C1-8E51-DC8CC0F8B7A0}" type="presOf" srcId="{55E07662-619F-40B7-A3CF-8A3D29AB9581}" destId="{E7E73A31-076C-403F-8EC4-E8DD58501107}" srcOrd="1" destOrd="0" presId="urn:microsoft.com/office/officeart/2005/8/layout/vProcess5"/>
    <dgm:cxn modelId="{F89C19BF-2038-4566-9149-4E4749521651}" type="presParOf" srcId="{83635B7B-5D9B-41F8-AB38-1D6756820660}" destId="{73C65645-FFBD-40D9-8465-77A71F95020D}" srcOrd="0" destOrd="0" presId="urn:microsoft.com/office/officeart/2005/8/layout/vProcess5"/>
    <dgm:cxn modelId="{2C0F20EA-E65C-4C2A-A031-C73DC1B90906}" type="presParOf" srcId="{83635B7B-5D9B-41F8-AB38-1D6756820660}" destId="{B8898E2A-F69D-48A8-9361-A51FA658EDAC}" srcOrd="1" destOrd="0" presId="urn:microsoft.com/office/officeart/2005/8/layout/vProcess5"/>
    <dgm:cxn modelId="{C7EA740C-8771-4BD7-9BAB-AF669769219A}" type="presParOf" srcId="{83635B7B-5D9B-41F8-AB38-1D6756820660}" destId="{73AECE94-4910-4777-97B1-1418BB0BEA69}" srcOrd="2" destOrd="0" presId="urn:microsoft.com/office/officeart/2005/8/layout/vProcess5"/>
    <dgm:cxn modelId="{98718BCC-3069-4A67-B3CA-66F1ADEFF759}" type="presParOf" srcId="{83635B7B-5D9B-41F8-AB38-1D6756820660}" destId="{3E1874D9-560E-4A9A-AB81-7306970E36C5}" srcOrd="3" destOrd="0" presId="urn:microsoft.com/office/officeart/2005/8/layout/vProcess5"/>
    <dgm:cxn modelId="{2231D5C2-8C46-4EA3-A5D6-F4409FCEDABA}" type="presParOf" srcId="{83635B7B-5D9B-41F8-AB38-1D6756820660}" destId="{4BB32A10-067F-45EC-A26D-7DD935FE5FD7}" srcOrd="4" destOrd="0" presId="urn:microsoft.com/office/officeart/2005/8/layout/vProcess5"/>
    <dgm:cxn modelId="{595462B8-2DB3-41EC-9014-101B903D1F98}" type="presParOf" srcId="{83635B7B-5D9B-41F8-AB38-1D6756820660}" destId="{D907048B-A2CA-4FFE-92FA-D571CBCA2E10}" srcOrd="5" destOrd="0" presId="urn:microsoft.com/office/officeart/2005/8/layout/vProcess5"/>
    <dgm:cxn modelId="{E289E4DB-55B0-47BF-9849-AC59EEC73A48}" type="presParOf" srcId="{83635B7B-5D9B-41F8-AB38-1D6756820660}" destId="{044979E5-E7F7-40C6-BA21-C22CA10E8003}" srcOrd="6" destOrd="0" presId="urn:microsoft.com/office/officeart/2005/8/layout/vProcess5"/>
    <dgm:cxn modelId="{E3EA3E07-1F06-434E-A223-6BB9F0956CD3}" type="presParOf" srcId="{83635B7B-5D9B-41F8-AB38-1D6756820660}" destId="{6B2A106F-218A-4253-ABA1-94512BA67E50}" srcOrd="7" destOrd="0" presId="urn:microsoft.com/office/officeart/2005/8/layout/vProcess5"/>
    <dgm:cxn modelId="{5CA65B95-417E-4A71-B668-B61034EEF1EB}" type="presParOf" srcId="{83635B7B-5D9B-41F8-AB38-1D6756820660}" destId="{E7E73A31-076C-403F-8EC4-E8DD58501107}" srcOrd="8" destOrd="0" presId="urn:microsoft.com/office/officeart/2005/8/layout/vProcess5"/>
    <dgm:cxn modelId="{FF2BB137-D7A4-4BCE-93A9-FEBA82CD62EB}" type="presParOf" srcId="{83635B7B-5D9B-41F8-AB38-1D6756820660}" destId="{C1DD108F-B3CF-4DAD-8AE2-E77A47D4665E}" srcOrd="9" destOrd="0" presId="urn:microsoft.com/office/officeart/2005/8/layout/vProcess5"/>
    <dgm:cxn modelId="{3D403FA0-72ED-4F5A-9D77-8454CDB0E928}" type="presParOf" srcId="{83635B7B-5D9B-41F8-AB38-1D6756820660}" destId="{88E06D9D-AC23-4F83-B33F-128F64BF5846}" srcOrd="10" destOrd="0" presId="urn:microsoft.com/office/officeart/2005/8/layout/vProcess5"/>
    <dgm:cxn modelId="{390D8A9E-A355-417E-A6BF-7A63D939987E}" type="presParOf" srcId="{83635B7B-5D9B-41F8-AB38-1D6756820660}" destId="{91DC810D-4E98-4642-B4B4-B8C26542AEA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47AE41-5885-413F-B9CE-0EECDEE0D2F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3E7CC8-6D9E-4B4D-834B-4DA12D420EB9}">
      <dgm:prSet/>
      <dgm:spPr/>
      <dgm:t>
        <a:bodyPr/>
        <a:lstStyle/>
        <a:p>
          <a:r>
            <a:rPr lang="en-US"/>
            <a:t>Sentiment vs Return: r = 0.09 → weak positive relationship.</a:t>
          </a:r>
        </a:p>
      </dgm:t>
    </dgm:pt>
    <dgm:pt modelId="{938B608A-564F-4EB2-86CE-21391D3BEDEC}" type="parTrans" cxnId="{90CE446E-5219-4015-9CCE-0FA188A14649}">
      <dgm:prSet/>
      <dgm:spPr/>
      <dgm:t>
        <a:bodyPr/>
        <a:lstStyle/>
        <a:p>
          <a:endParaRPr lang="en-US"/>
        </a:p>
      </dgm:t>
    </dgm:pt>
    <dgm:pt modelId="{69E291AF-D8C8-4216-9D2D-6FD81F720755}" type="sibTrans" cxnId="{90CE446E-5219-4015-9CCE-0FA188A14649}">
      <dgm:prSet/>
      <dgm:spPr/>
      <dgm:t>
        <a:bodyPr/>
        <a:lstStyle/>
        <a:p>
          <a:endParaRPr lang="en-US"/>
        </a:p>
      </dgm:t>
    </dgm:pt>
    <dgm:pt modelId="{6E341388-2DB5-4E0A-A50A-41DCA25F409F}">
      <dgm:prSet/>
      <dgm:spPr/>
      <dgm:t>
        <a:bodyPr/>
        <a:lstStyle/>
        <a:p>
          <a:r>
            <a:rPr lang="en-US"/>
            <a:t>VIX vs Return: r = -0.15 → weak negative relationship.</a:t>
          </a:r>
        </a:p>
      </dgm:t>
    </dgm:pt>
    <dgm:pt modelId="{70F2A5BA-2339-4559-8A55-4BE3C413B3BB}" type="parTrans" cxnId="{E4D15CE7-9C6F-41BE-A423-9A10CE895070}">
      <dgm:prSet/>
      <dgm:spPr/>
      <dgm:t>
        <a:bodyPr/>
        <a:lstStyle/>
        <a:p>
          <a:endParaRPr lang="en-US"/>
        </a:p>
      </dgm:t>
    </dgm:pt>
    <dgm:pt modelId="{F3F73D76-4CE9-4268-96C5-65821A4F7E03}" type="sibTrans" cxnId="{E4D15CE7-9C6F-41BE-A423-9A10CE895070}">
      <dgm:prSet/>
      <dgm:spPr/>
      <dgm:t>
        <a:bodyPr/>
        <a:lstStyle/>
        <a:p>
          <a:endParaRPr lang="en-US"/>
        </a:p>
      </dgm:t>
    </dgm:pt>
    <dgm:pt modelId="{19392E17-5B38-4510-B908-300961E7C2E1}">
      <dgm:prSet/>
      <dgm:spPr/>
      <dgm:t>
        <a:bodyPr/>
        <a:lstStyle/>
        <a:p>
          <a:r>
            <a:rPr lang="en-US" dirty="0"/>
            <a:t>Sentiment vs VIX: r = -0.31 → moderate negative relationship.</a:t>
          </a:r>
        </a:p>
      </dgm:t>
    </dgm:pt>
    <dgm:pt modelId="{401074DD-07A1-4F70-B9F2-F61C484AC4A8}" type="parTrans" cxnId="{E41B26B2-8198-4520-8948-B770253CBD16}">
      <dgm:prSet/>
      <dgm:spPr/>
      <dgm:t>
        <a:bodyPr/>
        <a:lstStyle/>
        <a:p>
          <a:endParaRPr lang="en-US"/>
        </a:p>
      </dgm:t>
    </dgm:pt>
    <dgm:pt modelId="{9DE11576-B9C9-4E84-AD9E-A501EBE9A91B}" type="sibTrans" cxnId="{E41B26B2-8198-4520-8948-B770253CBD16}">
      <dgm:prSet/>
      <dgm:spPr/>
      <dgm:t>
        <a:bodyPr/>
        <a:lstStyle/>
        <a:p>
          <a:endParaRPr lang="en-US"/>
        </a:p>
      </dgm:t>
    </dgm:pt>
    <dgm:pt modelId="{81DFC8E9-B386-4E0F-B741-44D20E577B70}">
      <dgm:prSet/>
      <dgm:spPr/>
      <dgm:t>
        <a:bodyPr/>
        <a:lstStyle/>
        <a:p>
          <a:r>
            <a:rPr lang="en-US"/>
            <a:t>Interpretation: Negative news coincides with higher volatility; sentiment alone has limited daily predictive power.</a:t>
          </a:r>
        </a:p>
      </dgm:t>
    </dgm:pt>
    <dgm:pt modelId="{0715F7DD-A09A-4EB2-A9EB-713FB50A972E}" type="parTrans" cxnId="{FF4DCB85-833B-44FF-89CE-AF67A85948D9}">
      <dgm:prSet/>
      <dgm:spPr/>
      <dgm:t>
        <a:bodyPr/>
        <a:lstStyle/>
        <a:p>
          <a:endParaRPr lang="en-US"/>
        </a:p>
      </dgm:t>
    </dgm:pt>
    <dgm:pt modelId="{7A3632BB-2245-415B-9A8D-E28229FF9708}" type="sibTrans" cxnId="{FF4DCB85-833B-44FF-89CE-AF67A85948D9}">
      <dgm:prSet/>
      <dgm:spPr/>
      <dgm:t>
        <a:bodyPr/>
        <a:lstStyle/>
        <a:p>
          <a:endParaRPr lang="en-US"/>
        </a:p>
      </dgm:t>
    </dgm:pt>
    <dgm:pt modelId="{245A0171-DE92-4EFD-B40A-5E52BBE6222E}" type="pres">
      <dgm:prSet presAssocID="{BE47AE41-5885-413F-B9CE-0EECDEE0D2F8}" presName="outerComposite" presStyleCnt="0">
        <dgm:presLayoutVars>
          <dgm:chMax val="5"/>
          <dgm:dir/>
          <dgm:resizeHandles val="exact"/>
        </dgm:presLayoutVars>
      </dgm:prSet>
      <dgm:spPr/>
    </dgm:pt>
    <dgm:pt modelId="{A12EE648-2B48-4777-87D7-6C120BE935C6}" type="pres">
      <dgm:prSet presAssocID="{BE47AE41-5885-413F-B9CE-0EECDEE0D2F8}" presName="dummyMaxCanvas" presStyleCnt="0">
        <dgm:presLayoutVars/>
      </dgm:prSet>
      <dgm:spPr/>
    </dgm:pt>
    <dgm:pt modelId="{6A559AA3-986B-4142-A5B8-353F0F3C4C3B}" type="pres">
      <dgm:prSet presAssocID="{BE47AE41-5885-413F-B9CE-0EECDEE0D2F8}" presName="FourNodes_1" presStyleLbl="node1" presStyleIdx="0" presStyleCnt="4">
        <dgm:presLayoutVars>
          <dgm:bulletEnabled val="1"/>
        </dgm:presLayoutVars>
      </dgm:prSet>
      <dgm:spPr/>
    </dgm:pt>
    <dgm:pt modelId="{A640F962-2FD3-4556-9EBE-01A461E989C0}" type="pres">
      <dgm:prSet presAssocID="{BE47AE41-5885-413F-B9CE-0EECDEE0D2F8}" presName="FourNodes_2" presStyleLbl="node1" presStyleIdx="1" presStyleCnt="4">
        <dgm:presLayoutVars>
          <dgm:bulletEnabled val="1"/>
        </dgm:presLayoutVars>
      </dgm:prSet>
      <dgm:spPr/>
    </dgm:pt>
    <dgm:pt modelId="{6AF1891C-8574-4837-B9E1-A9C7766E8B22}" type="pres">
      <dgm:prSet presAssocID="{BE47AE41-5885-413F-B9CE-0EECDEE0D2F8}" presName="FourNodes_3" presStyleLbl="node1" presStyleIdx="2" presStyleCnt="4">
        <dgm:presLayoutVars>
          <dgm:bulletEnabled val="1"/>
        </dgm:presLayoutVars>
      </dgm:prSet>
      <dgm:spPr/>
    </dgm:pt>
    <dgm:pt modelId="{DE1307A0-1FCB-4EF1-8766-B8CECECBFA4E}" type="pres">
      <dgm:prSet presAssocID="{BE47AE41-5885-413F-B9CE-0EECDEE0D2F8}" presName="FourNodes_4" presStyleLbl="node1" presStyleIdx="3" presStyleCnt="4">
        <dgm:presLayoutVars>
          <dgm:bulletEnabled val="1"/>
        </dgm:presLayoutVars>
      </dgm:prSet>
      <dgm:spPr/>
    </dgm:pt>
    <dgm:pt modelId="{6050F3F2-A85B-495D-9B98-6CD2FE76EAEC}" type="pres">
      <dgm:prSet presAssocID="{BE47AE41-5885-413F-B9CE-0EECDEE0D2F8}" presName="FourConn_1-2" presStyleLbl="fgAccFollowNode1" presStyleIdx="0" presStyleCnt="3">
        <dgm:presLayoutVars>
          <dgm:bulletEnabled val="1"/>
        </dgm:presLayoutVars>
      </dgm:prSet>
      <dgm:spPr/>
    </dgm:pt>
    <dgm:pt modelId="{64731F53-E5D4-416A-990B-FC0C5D400118}" type="pres">
      <dgm:prSet presAssocID="{BE47AE41-5885-413F-B9CE-0EECDEE0D2F8}" presName="FourConn_2-3" presStyleLbl="fgAccFollowNode1" presStyleIdx="1" presStyleCnt="3">
        <dgm:presLayoutVars>
          <dgm:bulletEnabled val="1"/>
        </dgm:presLayoutVars>
      </dgm:prSet>
      <dgm:spPr/>
    </dgm:pt>
    <dgm:pt modelId="{ED5280ED-C528-4183-B0B1-486AB6F1A57C}" type="pres">
      <dgm:prSet presAssocID="{BE47AE41-5885-413F-B9CE-0EECDEE0D2F8}" presName="FourConn_3-4" presStyleLbl="fgAccFollowNode1" presStyleIdx="2" presStyleCnt="3">
        <dgm:presLayoutVars>
          <dgm:bulletEnabled val="1"/>
        </dgm:presLayoutVars>
      </dgm:prSet>
      <dgm:spPr/>
    </dgm:pt>
    <dgm:pt modelId="{21ABB2AF-EF3E-4B94-86A8-16638AD9AA32}" type="pres">
      <dgm:prSet presAssocID="{BE47AE41-5885-413F-B9CE-0EECDEE0D2F8}" presName="FourNodes_1_text" presStyleLbl="node1" presStyleIdx="3" presStyleCnt="4">
        <dgm:presLayoutVars>
          <dgm:bulletEnabled val="1"/>
        </dgm:presLayoutVars>
      </dgm:prSet>
      <dgm:spPr/>
    </dgm:pt>
    <dgm:pt modelId="{8214883D-CBB1-41E6-9390-3246DAF6ABF2}" type="pres">
      <dgm:prSet presAssocID="{BE47AE41-5885-413F-B9CE-0EECDEE0D2F8}" presName="FourNodes_2_text" presStyleLbl="node1" presStyleIdx="3" presStyleCnt="4">
        <dgm:presLayoutVars>
          <dgm:bulletEnabled val="1"/>
        </dgm:presLayoutVars>
      </dgm:prSet>
      <dgm:spPr/>
    </dgm:pt>
    <dgm:pt modelId="{DC72D56D-B659-46BD-99C6-F18E00C90043}" type="pres">
      <dgm:prSet presAssocID="{BE47AE41-5885-413F-B9CE-0EECDEE0D2F8}" presName="FourNodes_3_text" presStyleLbl="node1" presStyleIdx="3" presStyleCnt="4">
        <dgm:presLayoutVars>
          <dgm:bulletEnabled val="1"/>
        </dgm:presLayoutVars>
      </dgm:prSet>
      <dgm:spPr/>
    </dgm:pt>
    <dgm:pt modelId="{F3C3CE60-9535-4A52-B988-95B04B397B3D}" type="pres">
      <dgm:prSet presAssocID="{BE47AE41-5885-413F-B9CE-0EECDEE0D2F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53D2B1F-B967-4FAB-B120-1124C63EE673}" type="presOf" srcId="{BE47AE41-5885-413F-B9CE-0EECDEE0D2F8}" destId="{245A0171-DE92-4EFD-B40A-5E52BBE6222E}" srcOrd="0" destOrd="0" presId="urn:microsoft.com/office/officeart/2005/8/layout/vProcess5"/>
    <dgm:cxn modelId="{DAA4C622-CC05-402F-B2B0-27E573C4586C}" type="presOf" srcId="{F3F73D76-4CE9-4268-96C5-65821A4F7E03}" destId="{64731F53-E5D4-416A-990B-FC0C5D400118}" srcOrd="0" destOrd="0" presId="urn:microsoft.com/office/officeart/2005/8/layout/vProcess5"/>
    <dgm:cxn modelId="{7CA1EB32-D004-4A5F-A1A1-9619F0018507}" type="presOf" srcId="{81DFC8E9-B386-4E0F-B741-44D20E577B70}" destId="{DE1307A0-1FCB-4EF1-8766-B8CECECBFA4E}" srcOrd="0" destOrd="0" presId="urn:microsoft.com/office/officeart/2005/8/layout/vProcess5"/>
    <dgm:cxn modelId="{E77A833B-980F-4223-B674-C0510C035EEF}" type="presOf" srcId="{19392E17-5B38-4510-B908-300961E7C2E1}" destId="{6AF1891C-8574-4837-B9E1-A9C7766E8B22}" srcOrd="0" destOrd="0" presId="urn:microsoft.com/office/officeart/2005/8/layout/vProcess5"/>
    <dgm:cxn modelId="{9EEEC06A-E7CA-4FD6-849E-BC4B74A3AF40}" type="presOf" srcId="{6E341388-2DB5-4E0A-A50A-41DCA25F409F}" destId="{A640F962-2FD3-4556-9EBE-01A461E989C0}" srcOrd="0" destOrd="0" presId="urn:microsoft.com/office/officeart/2005/8/layout/vProcess5"/>
    <dgm:cxn modelId="{BA6C106C-9F2A-40B5-9257-AD09A3D2D3CC}" type="presOf" srcId="{9DE11576-B9C9-4E84-AD9E-A501EBE9A91B}" destId="{ED5280ED-C528-4183-B0B1-486AB6F1A57C}" srcOrd="0" destOrd="0" presId="urn:microsoft.com/office/officeart/2005/8/layout/vProcess5"/>
    <dgm:cxn modelId="{90CE446E-5219-4015-9CCE-0FA188A14649}" srcId="{BE47AE41-5885-413F-B9CE-0EECDEE0D2F8}" destId="{743E7CC8-6D9E-4B4D-834B-4DA12D420EB9}" srcOrd="0" destOrd="0" parTransId="{938B608A-564F-4EB2-86CE-21391D3BEDEC}" sibTransId="{69E291AF-D8C8-4216-9D2D-6FD81F720755}"/>
    <dgm:cxn modelId="{FF4DCB85-833B-44FF-89CE-AF67A85948D9}" srcId="{BE47AE41-5885-413F-B9CE-0EECDEE0D2F8}" destId="{81DFC8E9-B386-4E0F-B741-44D20E577B70}" srcOrd="3" destOrd="0" parTransId="{0715F7DD-A09A-4EB2-A9EB-713FB50A972E}" sibTransId="{7A3632BB-2245-415B-9A8D-E28229FF9708}"/>
    <dgm:cxn modelId="{633E7DA0-F2B0-4620-AAAB-01A135E4349B}" type="presOf" srcId="{743E7CC8-6D9E-4B4D-834B-4DA12D420EB9}" destId="{6A559AA3-986B-4142-A5B8-353F0F3C4C3B}" srcOrd="0" destOrd="0" presId="urn:microsoft.com/office/officeart/2005/8/layout/vProcess5"/>
    <dgm:cxn modelId="{77A23EA3-2164-4560-8DC1-8805C592CC39}" type="presOf" srcId="{6E341388-2DB5-4E0A-A50A-41DCA25F409F}" destId="{8214883D-CBB1-41E6-9390-3246DAF6ABF2}" srcOrd="1" destOrd="0" presId="urn:microsoft.com/office/officeart/2005/8/layout/vProcess5"/>
    <dgm:cxn modelId="{B31947AF-DAC3-4E14-8ACD-1B70233C00FA}" type="presOf" srcId="{69E291AF-D8C8-4216-9D2D-6FD81F720755}" destId="{6050F3F2-A85B-495D-9B98-6CD2FE76EAEC}" srcOrd="0" destOrd="0" presId="urn:microsoft.com/office/officeart/2005/8/layout/vProcess5"/>
    <dgm:cxn modelId="{E41B26B2-8198-4520-8948-B770253CBD16}" srcId="{BE47AE41-5885-413F-B9CE-0EECDEE0D2F8}" destId="{19392E17-5B38-4510-B908-300961E7C2E1}" srcOrd="2" destOrd="0" parTransId="{401074DD-07A1-4F70-B9F2-F61C484AC4A8}" sibTransId="{9DE11576-B9C9-4E84-AD9E-A501EBE9A91B}"/>
    <dgm:cxn modelId="{07242CD4-491E-46DD-AC19-C44A7A410052}" type="presOf" srcId="{81DFC8E9-B386-4E0F-B741-44D20E577B70}" destId="{F3C3CE60-9535-4A52-B988-95B04B397B3D}" srcOrd="1" destOrd="0" presId="urn:microsoft.com/office/officeart/2005/8/layout/vProcess5"/>
    <dgm:cxn modelId="{E4D15CE7-9C6F-41BE-A423-9A10CE895070}" srcId="{BE47AE41-5885-413F-B9CE-0EECDEE0D2F8}" destId="{6E341388-2DB5-4E0A-A50A-41DCA25F409F}" srcOrd="1" destOrd="0" parTransId="{70F2A5BA-2339-4559-8A55-4BE3C413B3BB}" sibTransId="{F3F73D76-4CE9-4268-96C5-65821A4F7E03}"/>
    <dgm:cxn modelId="{CA7426EB-E3EF-4EC3-9447-A8FBB08017B4}" type="presOf" srcId="{19392E17-5B38-4510-B908-300961E7C2E1}" destId="{DC72D56D-B659-46BD-99C6-F18E00C90043}" srcOrd="1" destOrd="0" presId="urn:microsoft.com/office/officeart/2005/8/layout/vProcess5"/>
    <dgm:cxn modelId="{0A3E34FF-A96D-49A8-A69F-5A521DB09C96}" type="presOf" srcId="{743E7CC8-6D9E-4B4D-834B-4DA12D420EB9}" destId="{21ABB2AF-EF3E-4B94-86A8-16638AD9AA32}" srcOrd="1" destOrd="0" presId="urn:microsoft.com/office/officeart/2005/8/layout/vProcess5"/>
    <dgm:cxn modelId="{521BBF4F-78E5-4B9B-8685-E9579C347D23}" type="presParOf" srcId="{245A0171-DE92-4EFD-B40A-5E52BBE6222E}" destId="{A12EE648-2B48-4777-87D7-6C120BE935C6}" srcOrd="0" destOrd="0" presId="urn:microsoft.com/office/officeart/2005/8/layout/vProcess5"/>
    <dgm:cxn modelId="{0BB21099-7EEC-4E60-A47E-CD47926C33AE}" type="presParOf" srcId="{245A0171-DE92-4EFD-B40A-5E52BBE6222E}" destId="{6A559AA3-986B-4142-A5B8-353F0F3C4C3B}" srcOrd="1" destOrd="0" presId="urn:microsoft.com/office/officeart/2005/8/layout/vProcess5"/>
    <dgm:cxn modelId="{02E0F0BE-AC4B-48B9-8FE8-01BC1657CF56}" type="presParOf" srcId="{245A0171-DE92-4EFD-B40A-5E52BBE6222E}" destId="{A640F962-2FD3-4556-9EBE-01A461E989C0}" srcOrd="2" destOrd="0" presId="urn:microsoft.com/office/officeart/2005/8/layout/vProcess5"/>
    <dgm:cxn modelId="{84CEAB6D-2DA0-4188-AE53-1097D7D8EDF2}" type="presParOf" srcId="{245A0171-DE92-4EFD-B40A-5E52BBE6222E}" destId="{6AF1891C-8574-4837-B9E1-A9C7766E8B22}" srcOrd="3" destOrd="0" presId="urn:microsoft.com/office/officeart/2005/8/layout/vProcess5"/>
    <dgm:cxn modelId="{7064E8D2-1E1A-4157-8E49-D5E3DC91A295}" type="presParOf" srcId="{245A0171-DE92-4EFD-B40A-5E52BBE6222E}" destId="{DE1307A0-1FCB-4EF1-8766-B8CECECBFA4E}" srcOrd="4" destOrd="0" presId="urn:microsoft.com/office/officeart/2005/8/layout/vProcess5"/>
    <dgm:cxn modelId="{DFC29547-D979-4820-9559-0A6D27AD1978}" type="presParOf" srcId="{245A0171-DE92-4EFD-B40A-5E52BBE6222E}" destId="{6050F3F2-A85B-495D-9B98-6CD2FE76EAEC}" srcOrd="5" destOrd="0" presId="urn:microsoft.com/office/officeart/2005/8/layout/vProcess5"/>
    <dgm:cxn modelId="{06C88ED4-0C40-45FA-BCFB-8A2F816C3EF9}" type="presParOf" srcId="{245A0171-DE92-4EFD-B40A-5E52BBE6222E}" destId="{64731F53-E5D4-416A-990B-FC0C5D400118}" srcOrd="6" destOrd="0" presId="urn:microsoft.com/office/officeart/2005/8/layout/vProcess5"/>
    <dgm:cxn modelId="{6D7F9671-7A94-4178-A9CA-CA4B3A7274EF}" type="presParOf" srcId="{245A0171-DE92-4EFD-B40A-5E52BBE6222E}" destId="{ED5280ED-C528-4183-B0B1-486AB6F1A57C}" srcOrd="7" destOrd="0" presId="urn:microsoft.com/office/officeart/2005/8/layout/vProcess5"/>
    <dgm:cxn modelId="{6D42F20E-02BC-48AD-AD68-804713B2EAE0}" type="presParOf" srcId="{245A0171-DE92-4EFD-B40A-5E52BBE6222E}" destId="{21ABB2AF-EF3E-4B94-86A8-16638AD9AA32}" srcOrd="8" destOrd="0" presId="urn:microsoft.com/office/officeart/2005/8/layout/vProcess5"/>
    <dgm:cxn modelId="{C6FC885C-83F0-47DC-A8DE-2D811A5AB452}" type="presParOf" srcId="{245A0171-DE92-4EFD-B40A-5E52BBE6222E}" destId="{8214883D-CBB1-41E6-9390-3246DAF6ABF2}" srcOrd="9" destOrd="0" presId="urn:microsoft.com/office/officeart/2005/8/layout/vProcess5"/>
    <dgm:cxn modelId="{ABA22918-C599-4288-81B3-32B2804E5D6E}" type="presParOf" srcId="{245A0171-DE92-4EFD-B40A-5E52BBE6222E}" destId="{DC72D56D-B659-46BD-99C6-F18E00C90043}" srcOrd="10" destOrd="0" presId="urn:microsoft.com/office/officeart/2005/8/layout/vProcess5"/>
    <dgm:cxn modelId="{336F1475-7C5F-4578-9F1B-5621F6D4C8D4}" type="presParOf" srcId="{245A0171-DE92-4EFD-B40A-5E52BBE6222E}" destId="{F3C3CE60-9535-4A52-B988-95B04B397B3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E38DE5-D601-4E0E-804C-39F5E5AAE19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4DB6E20-7878-4BAB-928F-C8664A6BD501}">
      <dgm:prSet/>
      <dgm:spPr/>
      <dgm:t>
        <a:bodyPr/>
        <a:lstStyle/>
        <a:p>
          <a:r>
            <a:rPr lang="en-US" dirty="0"/>
            <a:t>Model: return ~ </a:t>
          </a:r>
          <a:r>
            <a:rPr lang="en-US" dirty="0" err="1"/>
            <a:t>daily_sentiment</a:t>
          </a:r>
          <a:r>
            <a:rPr lang="en-US" dirty="0"/>
            <a:t> + sentiment_lag1 + </a:t>
          </a:r>
          <a:r>
            <a:rPr lang="en-US" dirty="0" err="1"/>
            <a:t>vix</a:t>
          </a:r>
          <a:endParaRPr lang="en-US" dirty="0"/>
        </a:p>
      </dgm:t>
    </dgm:pt>
    <dgm:pt modelId="{406A9249-6751-4598-B1F6-D03773AB809C}" type="parTrans" cxnId="{81F9D5B6-A7C1-43DF-A63F-59AAB55797D2}">
      <dgm:prSet/>
      <dgm:spPr/>
      <dgm:t>
        <a:bodyPr/>
        <a:lstStyle/>
        <a:p>
          <a:endParaRPr lang="en-US"/>
        </a:p>
      </dgm:t>
    </dgm:pt>
    <dgm:pt modelId="{FF9020A7-C3D8-45C2-900E-99EB39D86C25}" type="sibTrans" cxnId="{81F9D5B6-A7C1-43DF-A63F-59AAB55797D2}">
      <dgm:prSet/>
      <dgm:spPr/>
      <dgm:t>
        <a:bodyPr/>
        <a:lstStyle/>
        <a:p>
          <a:endParaRPr lang="en-US"/>
        </a:p>
      </dgm:t>
    </dgm:pt>
    <dgm:pt modelId="{17D76280-D769-431F-A986-66DDAC75C682}">
      <dgm:prSet/>
      <dgm:spPr/>
      <dgm:t>
        <a:bodyPr/>
        <a:lstStyle/>
        <a:p>
          <a:r>
            <a:rPr lang="en-US"/>
            <a:t>• daily_sentiment: coef +0.0053, p=0.175 (not significant)</a:t>
          </a:r>
        </a:p>
      </dgm:t>
    </dgm:pt>
    <dgm:pt modelId="{CF16A666-166C-431F-968F-5F9387C30DEF}" type="parTrans" cxnId="{F6B0D55B-D21C-4EB7-8F56-29ABBF0E299B}">
      <dgm:prSet/>
      <dgm:spPr/>
      <dgm:t>
        <a:bodyPr/>
        <a:lstStyle/>
        <a:p>
          <a:endParaRPr lang="en-US"/>
        </a:p>
      </dgm:t>
    </dgm:pt>
    <dgm:pt modelId="{1D5BDDC3-05DB-4BD9-BFE5-E248B6756F7E}" type="sibTrans" cxnId="{F6B0D55B-D21C-4EB7-8F56-29ABBF0E299B}">
      <dgm:prSet/>
      <dgm:spPr/>
      <dgm:t>
        <a:bodyPr/>
        <a:lstStyle/>
        <a:p>
          <a:endParaRPr lang="en-US"/>
        </a:p>
      </dgm:t>
    </dgm:pt>
    <dgm:pt modelId="{4DF1ED14-89AC-4027-B77D-F23055A921F8}">
      <dgm:prSet/>
      <dgm:spPr/>
      <dgm:t>
        <a:bodyPr/>
        <a:lstStyle/>
        <a:p>
          <a:r>
            <a:rPr lang="en-US"/>
            <a:t>• sentiment_lag1: coef -0.0048, p=0.220 (not significant)</a:t>
          </a:r>
        </a:p>
      </dgm:t>
    </dgm:pt>
    <dgm:pt modelId="{F1BB7B3D-83BC-49D9-A94A-694DC133F2E2}" type="parTrans" cxnId="{E5E2E107-E905-432E-B153-930EAF985D43}">
      <dgm:prSet/>
      <dgm:spPr/>
      <dgm:t>
        <a:bodyPr/>
        <a:lstStyle/>
        <a:p>
          <a:endParaRPr lang="en-US"/>
        </a:p>
      </dgm:t>
    </dgm:pt>
    <dgm:pt modelId="{6BBF8B92-8FAE-47BD-B894-B991B18D1167}" type="sibTrans" cxnId="{E5E2E107-E905-432E-B153-930EAF985D43}">
      <dgm:prSet/>
      <dgm:spPr/>
      <dgm:t>
        <a:bodyPr/>
        <a:lstStyle/>
        <a:p>
          <a:endParaRPr lang="en-US"/>
        </a:p>
      </dgm:t>
    </dgm:pt>
    <dgm:pt modelId="{B0ED44B2-DE2A-4014-B0B6-1DA33D1C2F74}">
      <dgm:prSet/>
      <dgm:spPr/>
      <dgm:t>
        <a:bodyPr/>
        <a:lstStyle/>
        <a:p>
          <a:r>
            <a:rPr lang="en-US"/>
            <a:t>• vix: coef -0.0002, p=0.001 (significant)</a:t>
          </a:r>
        </a:p>
      </dgm:t>
    </dgm:pt>
    <dgm:pt modelId="{41A4124E-E029-4185-8CB3-0C677A9C6EBC}" type="parTrans" cxnId="{852CA194-5ED5-494B-A8E5-5A88DE781969}">
      <dgm:prSet/>
      <dgm:spPr/>
      <dgm:t>
        <a:bodyPr/>
        <a:lstStyle/>
        <a:p>
          <a:endParaRPr lang="en-US"/>
        </a:p>
      </dgm:t>
    </dgm:pt>
    <dgm:pt modelId="{2CF70118-1588-47F0-8597-BD27CCD8A1AB}" type="sibTrans" cxnId="{852CA194-5ED5-494B-A8E5-5A88DE781969}">
      <dgm:prSet/>
      <dgm:spPr/>
      <dgm:t>
        <a:bodyPr/>
        <a:lstStyle/>
        <a:p>
          <a:endParaRPr lang="en-US"/>
        </a:p>
      </dgm:t>
    </dgm:pt>
    <dgm:pt modelId="{BA6C617F-F6C2-4B5C-9364-992CA89B5B4A}">
      <dgm:prSet/>
      <dgm:spPr/>
      <dgm:t>
        <a:bodyPr/>
        <a:lstStyle/>
        <a:p>
          <a:r>
            <a:rPr lang="en-US"/>
            <a:t>R² = 0.027</a:t>
          </a:r>
        </a:p>
      </dgm:t>
    </dgm:pt>
    <dgm:pt modelId="{B1ED7EEE-D0BE-4660-911D-4A255BBCA426}" type="parTrans" cxnId="{45434C15-C781-4DD9-A5A8-F3BDB000F2B5}">
      <dgm:prSet/>
      <dgm:spPr/>
      <dgm:t>
        <a:bodyPr/>
        <a:lstStyle/>
        <a:p>
          <a:endParaRPr lang="en-US"/>
        </a:p>
      </dgm:t>
    </dgm:pt>
    <dgm:pt modelId="{E675A81E-86F6-4080-ADDC-973A76B90873}" type="sibTrans" cxnId="{45434C15-C781-4DD9-A5A8-F3BDB000F2B5}">
      <dgm:prSet/>
      <dgm:spPr/>
      <dgm:t>
        <a:bodyPr/>
        <a:lstStyle/>
        <a:p>
          <a:endParaRPr lang="en-US"/>
        </a:p>
      </dgm:t>
    </dgm:pt>
    <dgm:pt modelId="{22084F6B-D5BE-4B14-A41B-1D50668D1F30}">
      <dgm:prSet/>
      <dgm:spPr/>
      <dgm:t>
        <a:bodyPr/>
        <a:lstStyle/>
        <a:p>
          <a:r>
            <a:rPr lang="en-US"/>
            <a:t>Takeaway: VIX significantly explains returns; sentiment does not at daily frequency.</a:t>
          </a:r>
        </a:p>
      </dgm:t>
    </dgm:pt>
    <dgm:pt modelId="{304B896D-C355-4BC3-9D7C-F22FFB700607}" type="parTrans" cxnId="{09ADE858-5DAB-447A-A844-159CE5DE2FBC}">
      <dgm:prSet/>
      <dgm:spPr/>
      <dgm:t>
        <a:bodyPr/>
        <a:lstStyle/>
        <a:p>
          <a:endParaRPr lang="en-US"/>
        </a:p>
      </dgm:t>
    </dgm:pt>
    <dgm:pt modelId="{94907F06-F752-40D4-8305-17C0BDD82823}" type="sibTrans" cxnId="{09ADE858-5DAB-447A-A844-159CE5DE2FBC}">
      <dgm:prSet/>
      <dgm:spPr/>
      <dgm:t>
        <a:bodyPr/>
        <a:lstStyle/>
        <a:p>
          <a:endParaRPr lang="en-US"/>
        </a:p>
      </dgm:t>
    </dgm:pt>
    <dgm:pt modelId="{DB676A03-3121-4065-A129-EE579DD2D4AF}" type="pres">
      <dgm:prSet presAssocID="{2CE38DE5-D601-4E0E-804C-39F5E5AAE191}" presName="diagram" presStyleCnt="0">
        <dgm:presLayoutVars>
          <dgm:dir/>
          <dgm:resizeHandles val="exact"/>
        </dgm:presLayoutVars>
      </dgm:prSet>
      <dgm:spPr/>
    </dgm:pt>
    <dgm:pt modelId="{62D0000F-AF29-4C63-8343-C76292CF7B72}" type="pres">
      <dgm:prSet presAssocID="{A4DB6E20-7878-4BAB-928F-C8664A6BD501}" presName="node" presStyleLbl="node1" presStyleIdx="0" presStyleCnt="6">
        <dgm:presLayoutVars>
          <dgm:bulletEnabled val="1"/>
        </dgm:presLayoutVars>
      </dgm:prSet>
      <dgm:spPr/>
    </dgm:pt>
    <dgm:pt modelId="{059D2B0E-F543-4D2B-9C0A-69C556602859}" type="pres">
      <dgm:prSet presAssocID="{FF9020A7-C3D8-45C2-900E-99EB39D86C25}" presName="sibTrans" presStyleCnt="0"/>
      <dgm:spPr/>
    </dgm:pt>
    <dgm:pt modelId="{B2441364-8725-43C1-A6D2-8F56A319E024}" type="pres">
      <dgm:prSet presAssocID="{17D76280-D769-431F-A986-66DDAC75C682}" presName="node" presStyleLbl="node1" presStyleIdx="1" presStyleCnt="6">
        <dgm:presLayoutVars>
          <dgm:bulletEnabled val="1"/>
        </dgm:presLayoutVars>
      </dgm:prSet>
      <dgm:spPr/>
    </dgm:pt>
    <dgm:pt modelId="{EC5DC98A-BABF-4405-A17B-4819BD62641E}" type="pres">
      <dgm:prSet presAssocID="{1D5BDDC3-05DB-4BD9-BFE5-E248B6756F7E}" presName="sibTrans" presStyleCnt="0"/>
      <dgm:spPr/>
    </dgm:pt>
    <dgm:pt modelId="{8A6A03C2-F4FB-4588-B491-73F3D1F81E0E}" type="pres">
      <dgm:prSet presAssocID="{4DF1ED14-89AC-4027-B77D-F23055A921F8}" presName="node" presStyleLbl="node1" presStyleIdx="2" presStyleCnt="6">
        <dgm:presLayoutVars>
          <dgm:bulletEnabled val="1"/>
        </dgm:presLayoutVars>
      </dgm:prSet>
      <dgm:spPr/>
    </dgm:pt>
    <dgm:pt modelId="{57441AD0-76A7-41D4-898E-966042369A88}" type="pres">
      <dgm:prSet presAssocID="{6BBF8B92-8FAE-47BD-B894-B991B18D1167}" presName="sibTrans" presStyleCnt="0"/>
      <dgm:spPr/>
    </dgm:pt>
    <dgm:pt modelId="{4DF95643-CBEA-467F-B6FB-A0FC61D27CAD}" type="pres">
      <dgm:prSet presAssocID="{B0ED44B2-DE2A-4014-B0B6-1DA33D1C2F74}" presName="node" presStyleLbl="node1" presStyleIdx="3" presStyleCnt="6">
        <dgm:presLayoutVars>
          <dgm:bulletEnabled val="1"/>
        </dgm:presLayoutVars>
      </dgm:prSet>
      <dgm:spPr/>
    </dgm:pt>
    <dgm:pt modelId="{A3BFDCB8-6929-47AD-AC61-01F29CAB42C2}" type="pres">
      <dgm:prSet presAssocID="{2CF70118-1588-47F0-8597-BD27CCD8A1AB}" presName="sibTrans" presStyleCnt="0"/>
      <dgm:spPr/>
    </dgm:pt>
    <dgm:pt modelId="{95EDF152-B7B3-4190-B99F-1D2C69A533A9}" type="pres">
      <dgm:prSet presAssocID="{BA6C617F-F6C2-4B5C-9364-992CA89B5B4A}" presName="node" presStyleLbl="node1" presStyleIdx="4" presStyleCnt="6">
        <dgm:presLayoutVars>
          <dgm:bulletEnabled val="1"/>
        </dgm:presLayoutVars>
      </dgm:prSet>
      <dgm:spPr/>
    </dgm:pt>
    <dgm:pt modelId="{84F4C417-1C83-43E3-8135-B0E6A1070592}" type="pres">
      <dgm:prSet presAssocID="{E675A81E-86F6-4080-ADDC-973A76B90873}" presName="sibTrans" presStyleCnt="0"/>
      <dgm:spPr/>
    </dgm:pt>
    <dgm:pt modelId="{1AA6B94A-598B-49F8-B630-CA3E2C38255E}" type="pres">
      <dgm:prSet presAssocID="{22084F6B-D5BE-4B14-A41B-1D50668D1F30}" presName="node" presStyleLbl="node1" presStyleIdx="5" presStyleCnt="6">
        <dgm:presLayoutVars>
          <dgm:bulletEnabled val="1"/>
        </dgm:presLayoutVars>
      </dgm:prSet>
      <dgm:spPr/>
    </dgm:pt>
  </dgm:ptLst>
  <dgm:cxnLst>
    <dgm:cxn modelId="{E5E2E107-E905-432E-B153-930EAF985D43}" srcId="{2CE38DE5-D601-4E0E-804C-39F5E5AAE191}" destId="{4DF1ED14-89AC-4027-B77D-F23055A921F8}" srcOrd="2" destOrd="0" parTransId="{F1BB7B3D-83BC-49D9-A94A-694DC133F2E2}" sibTransId="{6BBF8B92-8FAE-47BD-B894-B991B18D1167}"/>
    <dgm:cxn modelId="{45434C15-C781-4DD9-A5A8-F3BDB000F2B5}" srcId="{2CE38DE5-D601-4E0E-804C-39F5E5AAE191}" destId="{BA6C617F-F6C2-4B5C-9364-992CA89B5B4A}" srcOrd="4" destOrd="0" parTransId="{B1ED7EEE-D0BE-4660-911D-4A255BBCA426}" sibTransId="{E675A81E-86F6-4080-ADDC-973A76B90873}"/>
    <dgm:cxn modelId="{F6B0D55B-D21C-4EB7-8F56-29ABBF0E299B}" srcId="{2CE38DE5-D601-4E0E-804C-39F5E5AAE191}" destId="{17D76280-D769-431F-A986-66DDAC75C682}" srcOrd="1" destOrd="0" parTransId="{CF16A666-166C-431F-968F-5F9387C30DEF}" sibTransId="{1D5BDDC3-05DB-4BD9-BFE5-E248B6756F7E}"/>
    <dgm:cxn modelId="{7E94A250-A6A7-4FC2-BB01-F0AC959D2C63}" type="presOf" srcId="{A4DB6E20-7878-4BAB-928F-C8664A6BD501}" destId="{62D0000F-AF29-4C63-8343-C76292CF7B72}" srcOrd="0" destOrd="0" presId="urn:microsoft.com/office/officeart/2005/8/layout/default"/>
    <dgm:cxn modelId="{4DC3D173-525D-418E-8455-FF3DDC326E5A}" type="presOf" srcId="{B0ED44B2-DE2A-4014-B0B6-1DA33D1C2F74}" destId="{4DF95643-CBEA-467F-B6FB-A0FC61D27CAD}" srcOrd="0" destOrd="0" presId="urn:microsoft.com/office/officeart/2005/8/layout/default"/>
    <dgm:cxn modelId="{09ADE858-5DAB-447A-A844-159CE5DE2FBC}" srcId="{2CE38DE5-D601-4E0E-804C-39F5E5AAE191}" destId="{22084F6B-D5BE-4B14-A41B-1D50668D1F30}" srcOrd="5" destOrd="0" parTransId="{304B896D-C355-4BC3-9D7C-F22FFB700607}" sibTransId="{94907F06-F752-40D4-8305-17C0BDD82823}"/>
    <dgm:cxn modelId="{852CA194-5ED5-494B-A8E5-5A88DE781969}" srcId="{2CE38DE5-D601-4E0E-804C-39F5E5AAE191}" destId="{B0ED44B2-DE2A-4014-B0B6-1DA33D1C2F74}" srcOrd="3" destOrd="0" parTransId="{41A4124E-E029-4185-8CB3-0C677A9C6EBC}" sibTransId="{2CF70118-1588-47F0-8597-BD27CCD8A1AB}"/>
    <dgm:cxn modelId="{9F312A9F-07A7-4283-8C2B-E5C20435FD1C}" type="presOf" srcId="{BA6C617F-F6C2-4B5C-9364-992CA89B5B4A}" destId="{95EDF152-B7B3-4190-B99F-1D2C69A533A9}" srcOrd="0" destOrd="0" presId="urn:microsoft.com/office/officeart/2005/8/layout/default"/>
    <dgm:cxn modelId="{15EEFEAA-CA34-4E97-A463-CC89C040F514}" type="presOf" srcId="{4DF1ED14-89AC-4027-B77D-F23055A921F8}" destId="{8A6A03C2-F4FB-4588-B491-73F3D1F81E0E}" srcOrd="0" destOrd="0" presId="urn:microsoft.com/office/officeart/2005/8/layout/default"/>
    <dgm:cxn modelId="{F8415FB2-34BF-4521-958B-D6E66086E5CE}" type="presOf" srcId="{2CE38DE5-D601-4E0E-804C-39F5E5AAE191}" destId="{DB676A03-3121-4065-A129-EE579DD2D4AF}" srcOrd="0" destOrd="0" presId="urn:microsoft.com/office/officeart/2005/8/layout/default"/>
    <dgm:cxn modelId="{81F9D5B6-A7C1-43DF-A63F-59AAB55797D2}" srcId="{2CE38DE5-D601-4E0E-804C-39F5E5AAE191}" destId="{A4DB6E20-7878-4BAB-928F-C8664A6BD501}" srcOrd="0" destOrd="0" parTransId="{406A9249-6751-4598-B1F6-D03773AB809C}" sibTransId="{FF9020A7-C3D8-45C2-900E-99EB39D86C25}"/>
    <dgm:cxn modelId="{149379CA-C536-46DC-8D04-EB54B189097F}" type="presOf" srcId="{17D76280-D769-431F-A986-66DDAC75C682}" destId="{B2441364-8725-43C1-A6D2-8F56A319E024}" srcOrd="0" destOrd="0" presId="urn:microsoft.com/office/officeart/2005/8/layout/default"/>
    <dgm:cxn modelId="{A248BFFA-576D-4891-88F7-85739BCBDDB6}" type="presOf" srcId="{22084F6B-D5BE-4B14-A41B-1D50668D1F30}" destId="{1AA6B94A-598B-49F8-B630-CA3E2C38255E}" srcOrd="0" destOrd="0" presId="urn:microsoft.com/office/officeart/2005/8/layout/default"/>
    <dgm:cxn modelId="{E4EA3212-F04C-434D-BBE9-FD47F6831522}" type="presParOf" srcId="{DB676A03-3121-4065-A129-EE579DD2D4AF}" destId="{62D0000F-AF29-4C63-8343-C76292CF7B72}" srcOrd="0" destOrd="0" presId="urn:microsoft.com/office/officeart/2005/8/layout/default"/>
    <dgm:cxn modelId="{7BB11F22-FDBE-4B6B-A809-969BA1C55E44}" type="presParOf" srcId="{DB676A03-3121-4065-A129-EE579DD2D4AF}" destId="{059D2B0E-F543-4D2B-9C0A-69C556602859}" srcOrd="1" destOrd="0" presId="urn:microsoft.com/office/officeart/2005/8/layout/default"/>
    <dgm:cxn modelId="{ED2BF7A8-BCBD-432A-BF28-F1A411040242}" type="presParOf" srcId="{DB676A03-3121-4065-A129-EE579DD2D4AF}" destId="{B2441364-8725-43C1-A6D2-8F56A319E024}" srcOrd="2" destOrd="0" presId="urn:microsoft.com/office/officeart/2005/8/layout/default"/>
    <dgm:cxn modelId="{D2212D74-DC3C-4DE3-9A9A-1E505F51292C}" type="presParOf" srcId="{DB676A03-3121-4065-A129-EE579DD2D4AF}" destId="{EC5DC98A-BABF-4405-A17B-4819BD62641E}" srcOrd="3" destOrd="0" presId="urn:microsoft.com/office/officeart/2005/8/layout/default"/>
    <dgm:cxn modelId="{C8C8A58D-5128-4F80-BF3D-BF1C26218603}" type="presParOf" srcId="{DB676A03-3121-4065-A129-EE579DD2D4AF}" destId="{8A6A03C2-F4FB-4588-B491-73F3D1F81E0E}" srcOrd="4" destOrd="0" presId="urn:microsoft.com/office/officeart/2005/8/layout/default"/>
    <dgm:cxn modelId="{21C936A2-70B3-429F-9718-DB8090471615}" type="presParOf" srcId="{DB676A03-3121-4065-A129-EE579DD2D4AF}" destId="{57441AD0-76A7-41D4-898E-966042369A88}" srcOrd="5" destOrd="0" presId="urn:microsoft.com/office/officeart/2005/8/layout/default"/>
    <dgm:cxn modelId="{EFB2EB74-02A4-42FB-B06C-530D1D86405B}" type="presParOf" srcId="{DB676A03-3121-4065-A129-EE579DD2D4AF}" destId="{4DF95643-CBEA-467F-B6FB-A0FC61D27CAD}" srcOrd="6" destOrd="0" presId="urn:microsoft.com/office/officeart/2005/8/layout/default"/>
    <dgm:cxn modelId="{EE2ACEA3-13E9-46E8-AF9A-011A613596D8}" type="presParOf" srcId="{DB676A03-3121-4065-A129-EE579DD2D4AF}" destId="{A3BFDCB8-6929-47AD-AC61-01F29CAB42C2}" srcOrd="7" destOrd="0" presId="urn:microsoft.com/office/officeart/2005/8/layout/default"/>
    <dgm:cxn modelId="{FA4252BC-DC37-4F92-90C1-999AA4BD5732}" type="presParOf" srcId="{DB676A03-3121-4065-A129-EE579DD2D4AF}" destId="{95EDF152-B7B3-4190-B99F-1D2C69A533A9}" srcOrd="8" destOrd="0" presId="urn:microsoft.com/office/officeart/2005/8/layout/default"/>
    <dgm:cxn modelId="{53331430-CFE8-437C-A19B-F84C436FD39C}" type="presParOf" srcId="{DB676A03-3121-4065-A129-EE579DD2D4AF}" destId="{84F4C417-1C83-43E3-8135-B0E6A1070592}" srcOrd="9" destOrd="0" presId="urn:microsoft.com/office/officeart/2005/8/layout/default"/>
    <dgm:cxn modelId="{9171E348-30E3-44EF-98E5-6104C9085A4A}" type="presParOf" srcId="{DB676A03-3121-4065-A129-EE579DD2D4AF}" destId="{1AA6B94A-598B-49F8-B630-CA3E2C38255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E7D68C-834D-4595-B3C9-E5BDDDD8ADC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888D937-EB13-4452-A2C8-20D615FF6644}">
      <dgm:prSet/>
      <dgm:spPr/>
      <dgm:t>
        <a:bodyPr/>
        <a:lstStyle/>
        <a:p>
          <a:pPr>
            <a:defRPr cap="all"/>
          </a:pPr>
          <a:r>
            <a:rPr lang="en-US"/>
            <a:t>Aligning three news sources and two market series by date.</a:t>
          </a:r>
        </a:p>
      </dgm:t>
    </dgm:pt>
    <dgm:pt modelId="{8CA470E1-2F9F-4C4D-80C9-CE8223FE52C3}" type="parTrans" cxnId="{8F443578-6281-4EB3-AAB1-CD8410359A2E}">
      <dgm:prSet/>
      <dgm:spPr/>
      <dgm:t>
        <a:bodyPr/>
        <a:lstStyle/>
        <a:p>
          <a:endParaRPr lang="en-US"/>
        </a:p>
      </dgm:t>
    </dgm:pt>
    <dgm:pt modelId="{201A880A-2CC8-4A2C-89D7-6337061D45F6}" type="sibTrans" cxnId="{8F443578-6281-4EB3-AAB1-CD8410359A2E}">
      <dgm:prSet/>
      <dgm:spPr/>
      <dgm:t>
        <a:bodyPr/>
        <a:lstStyle/>
        <a:p>
          <a:endParaRPr lang="en-US"/>
        </a:p>
      </dgm:t>
    </dgm:pt>
    <dgm:pt modelId="{FE75762E-69EB-4D05-A2D1-87539EC15C73}">
      <dgm:prSet/>
      <dgm:spPr/>
      <dgm:t>
        <a:bodyPr/>
        <a:lstStyle/>
        <a:p>
          <a:pPr>
            <a:defRPr cap="all"/>
          </a:pPr>
          <a:r>
            <a:rPr lang="en-US"/>
            <a:t>Cleaning Yahoo Finance CSV exports (extra header rows).</a:t>
          </a:r>
        </a:p>
      </dgm:t>
    </dgm:pt>
    <dgm:pt modelId="{0D94EADC-6DA6-4321-BB44-A7FABAB7C97E}" type="parTrans" cxnId="{25D6A9F4-C928-46B1-8827-19D763968389}">
      <dgm:prSet/>
      <dgm:spPr/>
      <dgm:t>
        <a:bodyPr/>
        <a:lstStyle/>
        <a:p>
          <a:endParaRPr lang="en-US"/>
        </a:p>
      </dgm:t>
    </dgm:pt>
    <dgm:pt modelId="{9CB6BA98-2D6B-454D-8CD7-B529F6EF57FE}" type="sibTrans" cxnId="{25D6A9F4-C928-46B1-8827-19D763968389}">
      <dgm:prSet/>
      <dgm:spPr/>
      <dgm:t>
        <a:bodyPr/>
        <a:lstStyle/>
        <a:p>
          <a:endParaRPr lang="en-US"/>
        </a:p>
      </dgm:t>
    </dgm:pt>
    <dgm:pt modelId="{4C8FA08D-E239-4417-B183-7F755B0D6E67}">
      <dgm:prSet/>
      <dgm:spPr/>
      <dgm:t>
        <a:bodyPr/>
        <a:lstStyle/>
        <a:p>
          <a:pPr>
            <a:defRPr cap="all"/>
          </a:pPr>
          <a:r>
            <a:rPr lang="en-US"/>
            <a:t>Handling missing sentiment days and creating lag features.</a:t>
          </a:r>
        </a:p>
      </dgm:t>
    </dgm:pt>
    <dgm:pt modelId="{3776D1E3-5CEB-4ECF-94AB-C0DBB17BDDC4}" type="parTrans" cxnId="{8829D347-65C9-48AA-8175-CD86B0B7C4A0}">
      <dgm:prSet/>
      <dgm:spPr/>
      <dgm:t>
        <a:bodyPr/>
        <a:lstStyle/>
        <a:p>
          <a:endParaRPr lang="en-US"/>
        </a:p>
      </dgm:t>
    </dgm:pt>
    <dgm:pt modelId="{D4C00BAA-A7AF-4EA0-9348-B024CC03CD1F}" type="sibTrans" cxnId="{8829D347-65C9-48AA-8175-CD86B0B7C4A0}">
      <dgm:prSet/>
      <dgm:spPr/>
      <dgm:t>
        <a:bodyPr/>
        <a:lstStyle/>
        <a:p>
          <a:endParaRPr lang="en-US"/>
        </a:p>
      </dgm:t>
    </dgm:pt>
    <dgm:pt modelId="{04BF43B6-A4A3-4B64-96C3-DF6DE430F068}">
      <dgm:prSet/>
      <dgm:spPr/>
      <dgm:t>
        <a:bodyPr/>
        <a:lstStyle/>
        <a:p>
          <a:pPr>
            <a:defRPr cap="all"/>
          </a:pPr>
          <a:r>
            <a:rPr lang="en-US"/>
            <a:t>Low signal-to-noise ratio in daily market returns.</a:t>
          </a:r>
        </a:p>
      </dgm:t>
    </dgm:pt>
    <dgm:pt modelId="{E200EF8F-3770-4783-943A-339953BDA5D9}" type="parTrans" cxnId="{99F56333-F251-4FF5-9C33-2721DADBD70C}">
      <dgm:prSet/>
      <dgm:spPr/>
      <dgm:t>
        <a:bodyPr/>
        <a:lstStyle/>
        <a:p>
          <a:endParaRPr lang="en-US"/>
        </a:p>
      </dgm:t>
    </dgm:pt>
    <dgm:pt modelId="{B09D2267-4453-476A-A2E1-72D8FE2F3A04}" type="sibTrans" cxnId="{99F56333-F251-4FF5-9C33-2721DADBD70C}">
      <dgm:prSet/>
      <dgm:spPr/>
      <dgm:t>
        <a:bodyPr/>
        <a:lstStyle/>
        <a:p>
          <a:endParaRPr lang="en-US"/>
        </a:p>
      </dgm:t>
    </dgm:pt>
    <dgm:pt modelId="{8FABB1B3-DF24-4E7E-9DDB-C2431991AEA2}" type="pres">
      <dgm:prSet presAssocID="{92E7D68C-834D-4595-B3C9-E5BDDDD8ADC1}" presName="root" presStyleCnt="0">
        <dgm:presLayoutVars>
          <dgm:dir/>
          <dgm:resizeHandles val="exact"/>
        </dgm:presLayoutVars>
      </dgm:prSet>
      <dgm:spPr/>
    </dgm:pt>
    <dgm:pt modelId="{66A46D2E-184C-47D2-959D-F6AA5E962594}" type="pres">
      <dgm:prSet presAssocID="{0888D937-EB13-4452-A2C8-20D615FF6644}" presName="compNode" presStyleCnt="0"/>
      <dgm:spPr/>
    </dgm:pt>
    <dgm:pt modelId="{317B7AD2-AFC9-4D38-B66E-422A7B21456E}" type="pres">
      <dgm:prSet presAssocID="{0888D937-EB13-4452-A2C8-20D615FF664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F41768-F27E-494D-BEF3-25661843C008}" type="pres">
      <dgm:prSet presAssocID="{0888D937-EB13-4452-A2C8-20D615FF66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039736F-77C7-4F3C-82FE-7C17E24271EB}" type="pres">
      <dgm:prSet presAssocID="{0888D937-EB13-4452-A2C8-20D615FF6644}" presName="spaceRect" presStyleCnt="0"/>
      <dgm:spPr/>
    </dgm:pt>
    <dgm:pt modelId="{BDE2B2C4-32A7-42A2-A5DF-D53908BBD976}" type="pres">
      <dgm:prSet presAssocID="{0888D937-EB13-4452-A2C8-20D615FF6644}" presName="textRect" presStyleLbl="revTx" presStyleIdx="0" presStyleCnt="4">
        <dgm:presLayoutVars>
          <dgm:chMax val="1"/>
          <dgm:chPref val="1"/>
        </dgm:presLayoutVars>
      </dgm:prSet>
      <dgm:spPr/>
    </dgm:pt>
    <dgm:pt modelId="{F17EC851-4994-46B6-AF06-8C29F6599975}" type="pres">
      <dgm:prSet presAssocID="{201A880A-2CC8-4A2C-89D7-6337061D45F6}" presName="sibTrans" presStyleCnt="0"/>
      <dgm:spPr/>
    </dgm:pt>
    <dgm:pt modelId="{EF147B63-402C-46CC-939B-BE2EB14F8911}" type="pres">
      <dgm:prSet presAssocID="{FE75762E-69EB-4D05-A2D1-87539EC15C73}" presName="compNode" presStyleCnt="0"/>
      <dgm:spPr/>
    </dgm:pt>
    <dgm:pt modelId="{586FAFC8-0F96-4F6B-8796-C8654C048B0C}" type="pres">
      <dgm:prSet presAssocID="{FE75762E-69EB-4D05-A2D1-87539EC15C7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15D27EC-8613-43B5-86FD-0DEB6C59790A}" type="pres">
      <dgm:prSet presAssocID="{FE75762E-69EB-4D05-A2D1-87539EC15C7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EFE9B4B-3C98-4C4F-9A7F-CC1B582A6E80}" type="pres">
      <dgm:prSet presAssocID="{FE75762E-69EB-4D05-A2D1-87539EC15C73}" presName="spaceRect" presStyleCnt="0"/>
      <dgm:spPr/>
    </dgm:pt>
    <dgm:pt modelId="{C3431727-1F13-480C-9239-D21696C1EFD3}" type="pres">
      <dgm:prSet presAssocID="{FE75762E-69EB-4D05-A2D1-87539EC15C73}" presName="textRect" presStyleLbl="revTx" presStyleIdx="1" presStyleCnt="4">
        <dgm:presLayoutVars>
          <dgm:chMax val="1"/>
          <dgm:chPref val="1"/>
        </dgm:presLayoutVars>
      </dgm:prSet>
      <dgm:spPr/>
    </dgm:pt>
    <dgm:pt modelId="{DA1A6BBE-7488-4FBB-AD2A-F5F89C39DBB3}" type="pres">
      <dgm:prSet presAssocID="{9CB6BA98-2D6B-454D-8CD7-B529F6EF57FE}" presName="sibTrans" presStyleCnt="0"/>
      <dgm:spPr/>
    </dgm:pt>
    <dgm:pt modelId="{CDDAED7B-A88D-4FD1-A97E-C503EDD971A9}" type="pres">
      <dgm:prSet presAssocID="{4C8FA08D-E239-4417-B183-7F755B0D6E67}" presName="compNode" presStyleCnt="0"/>
      <dgm:spPr/>
    </dgm:pt>
    <dgm:pt modelId="{84740DEB-C0DE-4756-8133-46DFF9DDF5F7}" type="pres">
      <dgm:prSet presAssocID="{4C8FA08D-E239-4417-B183-7F755B0D6E6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791F51E-434E-43C1-9619-E50697832954}" type="pres">
      <dgm:prSet presAssocID="{4C8FA08D-E239-4417-B183-7F755B0D6E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B82C24BA-1D24-4A6B-B346-DEA890DD6B0B}" type="pres">
      <dgm:prSet presAssocID="{4C8FA08D-E239-4417-B183-7F755B0D6E67}" presName="spaceRect" presStyleCnt="0"/>
      <dgm:spPr/>
    </dgm:pt>
    <dgm:pt modelId="{048C1BEC-D043-4758-8988-A34E51CE6489}" type="pres">
      <dgm:prSet presAssocID="{4C8FA08D-E239-4417-B183-7F755B0D6E67}" presName="textRect" presStyleLbl="revTx" presStyleIdx="2" presStyleCnt="4">
        <dgm:presLayoutVars>
          <dgm:chMax val="1"/>
          <dgm:chPref val="1"/>
        </dgm:presLayoutVars>
      </dgm:prSet>
      <dgm:spPr/>
    </dgm:pt>
    <dgm:pt modelId="{6FA60613-79C5-4573-B79E-3ECB6F0095F3}" type="pres">
      <dgm:prSet presAssocID="{D4C00BAA-A7AF-4EA0-9348-B024CC03CD1F}" presName="sibTrans" presStyleCnt="0"/>
      <dgm:spPr/>
    </dgm:pt>
    <dgm:pt modelId="{EC75761B-72A7-47CE-8DF8-B625D6013EC1}" type="pres">
      <dgm:prSet presAssocID="{04BF43B6-A4A3-4B64-96C3-DF6DE430F068}" presName="compNode" presStyleCnt="0"/>
      <dgm:spPr/>
    </dgm:pt>
    <dgm:pt modelId="{8F70F18C-BE6F-4980-9C82-7CC09BB7F986}" type="pres">
      <dgm:prSet presAssocID="{04BF43B6-A4A3-4B64-96C3-DF6DE430F06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61B1A91A-29D7-4403-991F-452F6421CFFC}" type="pres">
      <dgm:prSet presAssocID="{04BF43B6-A4A3-4B64-96C3-DF6DE430F06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AF8D3E61-C574-4AF4-B475-4568D0A4D020}" type="pres">
      <dgm:prSet presAssocID="{04BF43B6-A4A3-4B64-96C3-DF6DE430F068}" presName="spaceRect" presStyleCnt="0"/>
      <dgm:spPr/>
    </dgm:pt>
    <dgm:pt modelId="{3B86B37E-C846-430F-865E-BAD599E568E9}" type="pres">
      <dgm:prSet presAssocID="{04BF43B6-A4A3-4B64-96C3-DF6DE430F06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93B860A-9AB5-4C5A-912A-F0D3FDD422F9}" type="presOf" srcId="{92E7D68C-834D-4595-B3C9-E5BDDDD8ADC1}" destId="{8FABB1B3-DF24-4E7E-9DDB-C2431991AEA2}" srcOrd="0" destOrd="0" presId="urn:microsoft.com/office/officeart/2018/5/layout/IconLeafLabelList"/>
    <dgm:cxn modelId="{99F56333-F251-4FF5-9C33-2721DADBD70C}" srcId="{92E7D68C-834D-4595-B3C9-E5BDDDD8ADC1}" destId="{04BF43B6-A4A3-4B64-96C3-DF6DE430F068}" srcOrd="3" destOrd="0" parTransId="{E200EF8F-3770-4783-943A-339953BDA5D9}" sibTransId="{B09D2267-4453-476A-A2E1-72D8FE2F3A04}"/>
    <dgm:cxn modelId="{41A09438-6427-41A0-9274-506306BED970}" type="presOf" srcId="{4C8FA08D-E239-4417-B183-7F755B0D6E67}" destId="{048C1BEC-D043-4758-8988-A34E51CE6489}" srcOrd="0" destOrd="0" presId="urn:microsoft.com/office/officeart/2018/5/layout/IconLeafLabelList"/>
    <dgm:cxn modelId="{217A6B3F-3E60-4F84-B6F6-81B089B931FA}" type="presOf" srcId="{04BF43B6-A4A3-4B64-96C3-DF6DE430F068}" destId="{3B86B37E-C846-430F-865E-BAD599E568E9}" srcOrd="0" destOrd="0" presId="urn:microsoft.com/office/officeart/2018/5/layout/IconLeafLabelList"/>
    <dgm:cxn modelId="{8829D347-65C9-48AA-8175-CD86B0B7C4A0}" srcId="{92E7D68C-834D-4595-B3C9-E5BDDDD8ADC1}" destId="{4C8FA08D-E239-4417-B183-7F755B0D6E67}" srcOrd="2" destOrd="0" parTransId="{3776D1E3-5CEB-4ECF-94AB-C0DBB17BDDC4}" sibTransId="{D4C00BAA-A7AF-4EA0-9348-B024CC03CD1F}"/>
    <dgm:cxn modelId="{8F443578-6281-4EB3-AAB1-CD8410359A2E}" srcId="{92E7D68C-834D-4595-B3C9-E5BDDDD8ADC1}" destId="{0888D937-EB13-4452-A2C8-20D615FF6644}" srcOrd="0" destOrd="0" parTransId="{8CA470E1-2F9F-4C4D-80C9-CE8223FE52C3}" sibTransId="{201A880A-2CC8-4A2C-89D7-6337061D45F6}"/>
    <dgm:cxn modelId="{A9EB908C-F9F5-49D3-BBF2-985FBF88709A}" type="presOf" srcId="{FE75762E-69EB-4D05-A2D1-87539EC15C73}" destId="{C3431727-1F13-480C-9239-D21696C1EFD3}" srcOrd="0" destOrd="0" presId="urn:microsoft.com/office/officeart/2018/5/layout/IconLeafLabelList"/>
    <dgm:cxn modelId="{2AC941D3-7C76-4BE2-AE66-97269A6C8111}" type="presOf" srcId="{0888D937-EB13-4452-A2C8-20D615FF6644}" destId="{BDE2B2C4-32A7-42A2-A5DF-D53908BBD976}" srcOrd="0" destOrd="0" presId="urn:microsoft.com/office/officeart/2018/5/layout/IconLeafLabelList"/>
    <dgm:cxn modelId="{25D6A9F4-C928-46B1-8827-19D763968389}" srcId="{92E7D68C-834D-4595-B3C9-E5BDDDD8ADC1}" destId="{FE75762E-69EB-4D05-A2D1-87539EC15C73}" srcOrd="1" destOrd="0" parTransId="{0D94EADC-6DA6-4321-BB44-A7FABAB7C97E}" sibTransId="{9CB6BA98-2D6B-454D-8CD7-B529F6EF57FE}"/>
    <dgm:cxn modelId="{56978C65-846E-4A14-BF72-ACAD69E51D15}" type="presParOf" srcId="{8FABB1B3-DF24-4E7E-9DDB-C2431991AEA2}" destId="{66A46D2E-184C-47D2-959D-F6AA5E962594}" srcOrd="0" destOrd="0" presId="urn:microsoft.com/office/officeart/2018/5/layout/IconLeafLabelList"/>
    <dgm:cxn modelId="{B98510D8-BA75-4167-A089-9D26AA1F1620}" type="presParOf" srcId="{66A46D2E-184C-47D2-959D-F6AA5E962594}" destId="{317B7AD2-AFC9-4D38-B66E-422A7B21456E}" srcOrd="0" destOrd="0" presId="urn:microsoft.com/office/officeart/2018/5/layout/IconLeafLabelList"/>
    <dgm:cxn modelId="{3EBCE416-AF20-4321-8FC8-2B34B61733EA}" type="presParOf" srcId="{66A46D2E-184C-47D2-959D-F6AA5E962594}" destId="{40F41768-F27E-494D-BEF3-25661843C008}" srcOrd="1" destOrd="0" presId="urn:microsoft.com/office/officeart/2018/5/layout/IconLeafLabelList"/>
    <dgm:cxn modelId="{ACA9BED7-5289-4A9B-BC45-B5A7EDEFB6F6}" type="presParOf" srcId="{66A46D2E-184C-47D2-959D-F6AA5E962594}" destId="{5039736F-77C7-4F3C-82FE-7C17E24271EB}" srcOrd="2" destOrd="0" presId="urn:microsoft.com/office/officeart/2018/5/layout/IconLeafLabelList"/>
    <dgm:cxn modelId="{640869C4-F38B-4E3B-9636-85188082DE97}" type="presParOf" srcId="{66A46D2E-184C-47D2-959D-F6AA5E962594}" destId="{BDE2B2C4-32A7-42A2-A5DF-D53908BBD976}" srcOrd="3" destOrd="0" presId="urn:microsoft.com/office/officeart/2018/5/layout/IconLeafLabelList"/>
    <dgm:cxn modelId="{5C25D9C3-A346-4763-A8A9-C3E74E3BF41C}" type="presParOf" srcId="{8FABB1B3-DF24-4E7E-9DDB-C2431991AEA2}" destId="{F17EC851-4994-46B6-AF06-8C29F6599975}" srcOrd="1" destOrd="0" presId="urn:microsoft.com/office/officeart/2018/5/layout/IconLeafLabelList"/>
    <dgm:cxn modelId="{64564EA4-7BB8-4C86-9C96-A7E26C7DA928}" type="presParOf" srcId="{8FABB1B3-DF24-4E7E-9DDB-C2431991AEA2}" destId="{EF147B63-402C-46CC-939B-BE2EB14F8911}" srcOrd="2" destOrd="0" presId="urn:microsoft.com/office/officeart/2018/5/layout/IconLeafLabelList"/>
    <dgm:cxn modelId="{983183F1-2063-4456-AD1B-05D715631D4C}" type="presParOf" srcId="{EF147B63-402C-46CC-939B-BE2EB14F8911}" destId="{586FAFC8-0F96-4F6B-8796-C8654C048B0C}" srcOrd="0" destOrd="0" presId="urn:microsoft.com/office/officeart/2018/5/layout/IconLeafLabelList"/>
    <dgm:cxn modelId="{58B0AFCE-7EE4-4CA5-8A2C-6AA9CECEEF29}" type="presParOf" srcId="{EF147B63-402C-46CC-939B-BE2EB14F8911}" destId="{915D27EC-8613-43B5-86FD-0DEB6C59790A}" srcOrd="1" destOrd="0" presId="urn:microsoft.com/office/officeart/2018/5/layout/IconLeafLabelList"/>
    <dgm:cxn modelId="{F628F0B9-AB5D-4F8F-B3FF-5F36ADA4992C}" type="presParOf" srcId="{EF147B63-402C-46CC-939B-BE2EB14F8911}" destId="{1EFE9B4B-3C98-4C4F-9A7F-CC1B582A6E80}" srcOrd="2" destOrd="0" presId="urn:microsoft.com/office/officeart/2018/5/layout/IconLeafLabelList"/>
    <dgm:cxn modelId="{10BA7E27-48B8-4DC8-9958-BC5F768D15D9}" type="presParOf" srcId="{EF147B63-402C-46CC-939B-BE2EB14F8911}" destId="{C3431727-1F13-480C-9239-D21696C1EFD3}" srcOrd="3" destOrd="0" presId="urn:microsoft.com/office/officeart/2018/5/layout/IconLeafLabelList"/>
    <dgm:cxn modelId="{4EA9D05D-2A52-454E-AD2F-FB746BB558BA}" type="presParOf" srcId="{8FABB1B3-DF24-4E7E-9DDB-C2431991AEA2}" destId="{DA1A6BBE-7488-4FBB-AD2A-F5F89C39DBB3}" srcOrd="3" destOrd="0" presId="urn:microsoft.com/office/officeart/2018/5/layout/IconLeafLabelList"/>
    <dgm:cxn modelId="{871FF903-607B-4C1F-9A39-609C2C262F56}" type="presParOf" srcId="{8FABB1B3-DF24-4E7E-9DDB-C2431991AEA2}" destId="{CDDAED7B-A88D-4FD1-A97E-C503EDD971A9}" srcOrd="4" destOrd="0" presId="urn:microsoft.com/office/officeart/2018/5/layout/IconLeafLabelList"/>
    <dgm:cxn modelId="{5B2729AF-C521-409B-8ED0-19A8DCF8E76D}" type="presParOf" srcId="{CDDAED7B-A88D-4FD1-A97E-C503EDD971A9}" destId="{84740DEB-C0DE-4756-8133-46DFF9DDF5F7}" srcOrd="0" destOrd="0" presId="urn:microsoft.com/office/officeart/2018/5/layout/IconLeafLabelList"/>
    <dgm:cxn modelId="{C129E2AC-6961-4038-BF3A-C5B39ABDB438}" type="presParOf" srcId="{CDDAED7B-A88D-4FD1-A97E-C503EDD971A9}" destId="{E791F51E-434E-43C1-9619-E50697832954}" srcOrd="1" destOrd="0" presId="urn:microsoft.com/office/officeart/2018/5/layout/IconLeafLabelList"/>
    <dgm:cxn modelId="{57483D5A-1D3D-474B-A0BB-2A8281C65EFF}" type="presParOf" srcId="{CDDAED7B-A88D-4FD1-A97E-C503EDD971A9}" destId="{B82C24BA-1D24-4A6B-B346-DEA890DD6B0B}" srcOrd="2" destOrd="0" presId="urn:microsoft.com/office/officeart/2018/5/layout/IconLeafLabelList"/>
    <dgm:cxn modelId="{1013F34B-7031-4116-8E13-28FFF18D40E1}" type="presParOf" srcId="{CDDAED7B-A88D-4FD1-A97E-C503EDD971A9}" destId="{048C1BEC-D043-4758-8988-A34E51CE6489}" srcOrd="3" destOrd="0" presId="urn:microsoft.com/office/officeart/2018/5/layout/IconLeafLabelList"/>
    <dgm:cxn modelId="{707E3A3B-4336-4DF0-AE09-2453FCB6D0C6}" type="presParOf" srcId="{8FABB1B3-DF24-4E7E-9DDB-C2431991AEA2}" destId="{6FA60613-79C5-4573-B79E-3ECB6F0095F3}" srcOrd="5" destOrd="0" presId="urn:microsoft.com/office/officeart/2018/5/layout/IconLeafLabelList"/>
    <dgm:cxn modelId="{52BC5CDE-8C29-40AA-9F3C-3AF7FA84A448}" type="presParOf" srcId="{8FABB1B3-DF24-4E7E-9DDB-C2431991AEA2}" destId="{EC75761B-72A7-47CE-8DF8-B625D6013EC1}" srcOrd="6" destOrd="0" presId="urn:microsoft.com/office/officeart/2018/5/layout/IconLeafLabelList"/>
    <dgm:cxn modelId="{A79C16F3-BB33-4702-A016-30456C9FEFD5}" type="presParOf" srcId="{EC75761B-72A7-47CE-8DF8-B625D6013EC1}" destId="{8F70F18C-BE6F-4980-9C82-7CC09BB7F986}" srcOrd="0" destOrd="0" presId="urn:microsoft.com/office/officeart/2018/5/layout/IconLeafLabelList"/>
    <dgm:cxn modelId="{457DE9EF-B670-4574-9930-44A341CE35A2}" type="presParOf" srcId="{EC75761B-72A7-47CE-8DF8-B625D6013EC1}" destId="{61B1A91A-29D7-4403-991F-452F6421CFFC}" srcOrd="1" destOrd="0" presId="urn:microsoft.com/office/officeart/2018/5/layout/IconLeafLabelList"/>
    <dgm:cxn modelId="{DEF4B00A-B762-4429-BD31-0F21104CB31E}" type="presParOf" srcId="{EC75761B-72A7-47CE-8DF8-B625D6013EC1}" destId="{AF8D3E61-C574-4AF4-B475-4568D0A4D020}" srcOrd="2" destOrd="0" presId="urn:microsoft.com/office/officeart/2018/5/layout/IconLeafLabelList"/>
    <dgm:cxn modelId="{93720F8A-C9E6-4B31-9597-67A61B9B7ECF}" type="presParOf" srcId="{EC75761B-72A7-47CE-8DF8-B625D6013EC1}" destId="{3B86B37E-C846-430F-865E-BAD599E568E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CC5796-80B0-4E67-B013-4AFD0AD793CC}">
      <dsp:nvSpPr>
        <dsp:cNvPr id="0" name=""/>
        <dsp:cNvSpPr/>
      </dsp:nvSpPr>
      <dsp:spPr>
        <a:xfrm>
          <a:off x="0" y="0"/>
          <a:ext cx="6966490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Goal: Test whether financial news sentiment predicts daily S&amp;P 500 returns.</a:t>
          </a:r>
        </a:p>
      </dsp:txBody>
      <dsp:txXfrm>
        <a:off x="32418" y="32418"/>
        <a:ext cx="5772143" cy="1041985"/>
      </dsp:txXfrm>
    </dsp:sp>
    <dsp:sp modelId="{FAFC88B7-F580-4F61-A821-832980B3455A}">
      <dsp:nvSpPr>
        <dsp:cNvPr id="0" name=""/>
        <dsp:cNvSpPr/>
      </dsp:nvSpPr>
      <dsp:spPr>
        <a:xfrm>
          <a:off x="614690" y="1291291"/>
          <a:ext cx="6966490" cy="11068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Approach: VADER labeling → Linear SVC sentiment model → daily sentiment index.</a:t>
          </a:r>
        </a:p>
      </dsp:txBody>
      <dsp:txXfrm>
        <a:off x="647108" y="1323709"/>
        <a:ext cx="5567530" cy="1041985"/>
      </dsp:txXfrm>
    </dsp:sp>
    <dsp:sp modelId="{1616DB46-EC7C-4941-81E1-14A233418CA2}">
      <dsp:nvSpPr>
        <dsp:cNvPr id="0" name=""/>
        <dsp:cNvSpPr/>
      </dsp:nvSpPr>
      <dsp:spPr>
        <a:xfrm>
          <a:off x="1229380" y="2582583"/>
          <a:ext cx="6966490" cy="110682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Then merged with S&amp;P 500 returns and VIX to analyze relationships.</a:t>
          </a:r>
        </a:p>
      </dsp:txBody>
      <dsp:txXfrm>
        <a:off x="1261798" y="2615001"/>
        <a:ext cx="5567530" cy="1041985"/>
      </dsp:txXfrm>
    </dsp:sp>
    <dsp:sp modelId="{C3E61391-C0F4-4E83-B8E3-A9670C458993}">
      <dsp:nvSpPr>
        <dsp:cNvPr id="0" name=""/>
        <dsp:cNvSpPr/>
      </dsp:nvSpPr>
      <dsp:spPr>
        <a:xfrm>
          <a:off x="6247056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408928" y="839339"/>
        <a:ext cx="395689" cy="541373"/>
      </dsp:txXfrm>
    </dsp:sp>
    <dsp:sp modelId="{99636DBF-6DA9-456F-95A6-EFC06419E548}">
      <dsp:nvSpPr>
        <dsp:cNvPr id="0" name=""/>
        <dsp:cNvSpPr/>
      </dsp:nvSpPr>
      <dsp:spPr>
        <a:xfrm>
          <a:off x="6861746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023618" y="2123252"/>
        <a:ext cx="395689" cy="54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98E2A-F69D-48A8-9361-A51FA658EDAC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1) Financial News Headlines (CNBC, Guardian, Reuters) — Kaggle CSV (~50k rows)</a:t>
          </a:r>
        </a:p>
      </dsp:txBody>
      <dsp:txXfrm>
        <a:off x="23773" y="23773"/>
        <a:ext cx="5612256" cy="764123"/>
      </dsp:txXfrm>
    </dsp:sp>
    <dsp:sp modelId="{73AECE94-4910-4777-97B1-1418BB0BEA69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2) S&amp;P 500 Index (^GSPC) — Yahoo Finance API (daily OHLCV)</a:t>
          </a:r>
        </a:p>
      </dsp:txBody>
      <dsp:txXfrm>
        <a:off x="572896" y="983018"/>
        <a:ext cx="5432442" cy="764123"/>
      </dsp:txXfrm>
    </dsp:sp>
    <dsp:sp modelId="{3E1874D9-560E-4A9A-AB81-7306970E36C5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3) VIX Index (^VIX) — Yahoo Finance API (daily close)</a:t>
          </a:r>
        </a:p>
      </dsp:txBody>
      <dsp:txXfrm>
        <a:off x="1113823" y="1942263"/>
        <a:ext cx="5440638" cy="764123"/>
      </dsp:txXfrm>
    </dsp:sp>
    <dsp:sp modelId="{4BB32A10-067F-45EC-A26D-7DD935FE5FD7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datasets merged by date; analysis uses window with sentiment available.</a:t>
          </a:r>
        </a:p>
      </dsp:txBody>
      <dsp:txXfrm>
        <a:off x="1662947" y="2901508"/>
        <a:ext cx="5432442" cy="764123"/>
      </dsp:txXfrm>
    </dsp:sp>
    <dsp:sp modelId="{D907048B-A2CA-4FFE-92FA-D571CBCA2E10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044979E5-E7F7-40C6-BA21-C22CA10E8003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6B2A106F-218A-4253-ABA1-94512BA67E50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59AA3-986B-4142-A5B8-353F0F3C4C3B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Sentiment vs Return: r = 0.09 → weak positive relationship.</a:t>
          </a:r>
        </a:p>
      </dsp:txBody>
      <dsp:txXfrm>
        <a:off x="23773" y="23773"/>
        <a:ext cx="5612256" cy="764123"/>
      </dsp:txXfrm>
    </dsp:sp>
    <dsp:sp modelId="{A640F962-2FD3-4556-9EBE-01A461E989C0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VIX vs Return: r = -0.15 → weak negative relationship.</a:t>
          </a:r>
        </a:p>
      </dsp:txBody>
      <dsp:txXfrm>
        <a:off x="572896" y="983018"/>
        <a:ext cx="5432442" cy="764123"/>
      </dsp:txXfrm>
    </dsp:sp>
    <dsp:sp modelId="{6AF1891C-8574-4837-B9E1-A9C7766E8B22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Sentiment vs VIX: r = -0.31 → moderate negative relationship.</a:t>
          </a:r>
        </a:p>
      </dsp:txBody>
      <dsp:txXfrm>
        <a:off x="1113823" y="1942263"/>
        <a:ext cx="5440638" cy="764123"/>
      </dsp:txXfrm>
    </dsp:sp>
    <dsp:sp modelId="{DE1307A0-1FCB-4EF1-8766-B8CECECBFA4E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Interpretation: Negative news coincides with higher volatility; sentiment alone has limited daily predictive power.</a:t>
          </a:r>
        </a:p>
      </dsp:txBody>
      <dsp:txXfrm>
        <a:off x="1662947" y="2901508"/>
        <a:ext cx="5432442" cy="764123"/>
      </dsp:txXfrm>
    </dsp:sp>
    <dsp:sp modelId="{6050F3F2-A85B-495D-9B98-6CD2FE76EAEC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64731F53-E5D4-416A-990B-FC0C5D400118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ED5280ED-C528-4183-B0B1-486AB6F1A57C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0000F-AF29-4C63-8343-C76292CF7B72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Model: return ~ </a:t>
          </a:r>
          <a:r>
            <a:rPr lang="en-US" sz="1900" kern="1200" dirty="0" err="1"/>
            <a:t>daily_sentiment</a:t>
          </a:r>
          <a:r>
            <a:rPr lang="en-US" sz="1900" kern="1200" dirty="0"/>
            <a:t> + sentiment_lag1 + </a:t>
          </a:r>
          <a:r>
            <a:rPr lang="en-US" sz="1900" kern="1200" dirty="0" err="1"/>
            <a:t>vix</a:t>
          </a:r>
          <a:endParaRPr lang="en-US" sz="1900" kern="1200" dirty="0"/>
        </a:p>
      </dsp:txBody>
      <dsp:txXfrm>
        <a:off x="0" y="431616"/>
        <a:ext cx="2561209" cy="1536725"/>
      </dsp:txXfrm>
    </dsp:sp>
    <dsp:sp modelId="{B2441364-8725-43C1-A6D2-8F56A319E024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daily_sentiment: coef +0.0053, p=0.175 (not significant)</a:t>
          </a:r>
        </a:p>
      </dsp:txBody>
      <dsp:txXfrm>
        <a:off x="2817330" y="431616"/>
        <a:ext cx="2561209" cy="1536725"/>
      </dsp:txXfrm>
    </dsp:sp>
    <dsp:sp modelId="{8A6A03C2-F4FB-4588-B491-73F3D1F81E0E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sentiment_lag1: coef -0.0048, p=0.220 (not significant)</a:t>
          </a:r>
        </a:p>
      </dsp:txBody>
      <dsp:txXfrm>
        <a:off x="5634661" y="431616"/>
        <a:ext cx="2561209" cy="1536725"/>
      </dsp:txXfrm>
    </dsp:sp>
    <dsp:sp modelId="{4DF95643-CBEA-467F-B6FB-A0FC61D27CAD}">
      <dsp:nvSpPr>
        <dsp:cNvPr id="0" name=""/>
        <dsp:cNvSpPr/>
      </dsp:nvSpPr>
      <dsp:spPr>
        <a:xfrm>
          <a:off x="0" y="22244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vix: coef -0.0002, p=0.001 (significant)</a:t>
          </a:r>
        </a:p>
      </dsp:txBody>
      <dsp:txXfrm>
        <a:off x="0" y="2224462"/>
        <a:ext cx="2561209" cy="1536725"/>
      </dsp:txXfrm>
    </dsp:sp>
    <dsp:sp modelId="{95EDF152-B7B3-4190-B99F-1D2C69A533A9}">
      <dsp:nvSpPr>
        <dsp:cNvPr id="0" name=""/>
        <dsp:cNvSpPr/>
      </dsp:nvSpPr>
      <dsp:spPr>
        <a:xfrm>
          <a:off x="2817330" y="22244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R² = 0.027</a:t>
          </a:r>
        </a:p>
      </dsp:txBody>
      <dsp:txXfrm>
        <a:off x="2817330" y="2224462"/>
        <a:ext cx="2561209" cy="1536725"/>
      </dsp:txXfrm>
    </dsp:sp>
    <dsp:sp modelId="{1AA6B94A-598B-49F8-B630-CA3E2C38255E}">
      <dsp:nvSpPr>
        <dsp:cNvPr id="0" name=""/>
        <dsp:cNvSpPr/>
      </dsp:nvSpPr>
      <dsp:spPr>
        <a:xfrm>
          <a:off x="5634661" y="2224462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Takeaway: VIX significantly explains returns; sentiment does not at daily frequency.</a:t>
          </a:r>
        </a:p>
      </dsp:txBody>
      <dsp:txXfrm>
        <a:off x="5634661" y="22244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B7AD2-AFC9-4D38-B66E-422A7B21456E}">
      <dsp:nvSpPr>
        <dsp:cNvPr id="0" name=""/>
        <dsp:cNvSpPr/>
      </dsp:nvSpPr>
      <dsp:spPr>
        <a:xfrm>
          <a:off x="37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41768-F27E-494D-BEF3-25661843C00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2B2C4-32A7-42A2-A5DF-D53908BBD976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Aligning three news sources and two market series by date.</a:t>
          </a:r>
        </a:p>
      </dsp:txBody>
      <dsp:txXfrm>
        <a:off x="25435" y="2456402"/>
        <a:ext cx="1800000" cy="720000"/>
      </dsp:txXfrm>
    </dsp:sp>
    <dsp:sp modelId="{586FAFC8-0F96-4F6B-8796-C8654C048B0C}">
      <dsp:nvSpPr>
        <dsp:cNvPr id="0" name=""/>
        <dsp:cNvSpPr/>
      </dsp:nvSpPr>
      <dsp:spPr>
        <a:xfrm>
          <a:off x="249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5D27EC-8613-43B5-86FD-0DEB6C59790A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31727-1F13-480C-9239-D21696C1EFD3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Cleaning Yahoo Finance CSV exports (extra header rows).</a:t>
          </a:r>
        </a:p>
      </dsp:txBody>
      <dsp:txXfrm>
        <a:off x="2140435" y="2456402"/>
        <a:ext cx="1800000" cy="720000"/>
      </dsp:txXfrm>
    </dsp:sp>
    <dsp:sp modelId="{84740DEB-C0DE-4756-8133-46DFF9DDF5F7}">
      <dsp:nvSpPr>
        <dsp:cNvPr id="0" name=""/>
        <dsp:cNvSpPr/>
      </dsp:nvSpPr>
      <dsp:spPr>
        <a:xfrm>
          <a:off x="4606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1F51E-434E-43C1-9619-E50697832954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8C1BEC-D043-4758-8988-A34E51CE648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Handling missing sentiment days and creating lag features.</a:t>
          </a:r>
        </a:p>
      </dsp:txBody>
      <dsp:txXfrm>
        <a:off x="4255435" y="2456402"/>
        <a:ext cx="1800000" cy="720000"/>
      </dsp:txXfrm>
    </dsp:sp>
    <dsp:sp modelId="{8F70F18C-BE6F-4980-9C82-7CC09BB7F986}">
      <dsp:nvSpPr>
        <dsp:cNvPr id="0" name=""/>
        <dsp:cNvSpPr/>
      </dsp:nvSpPr>
      <dsp:spPr>
        <a:xfrm>
          <a:off x="6721435" y="1016402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1A91A-29D7-4403-991F-452F6421CFF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6B37E-C846-430F-865E-BAD599E568E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Low signal-to-noise ratio in daily market returns.</a:t>
          </a:r>
        </a:p>
      </dsp:txBody>
      <dsp:txXfrm>
        <a:off x="6370435" y="245640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Finility: News Sentiment, VIX, and S&amp;P 500 Returns (2017–2020)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1905DC-662D-B1B4-4C6F-034E1D130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46851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Data Sources (Aligned to 2017–2020)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F3B7511B-BB64-BA65-36CE-91B07F7668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11218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Statistics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136305"/>
              </p:ext>
            </p:extLst>
          </p:nvPr>
        </p:nvGraphicFramePr>
        <p:xfrm>
          <a:off x="324168" y="1995488"/>
          <a:ext cx="8495663" cy="439377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63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790">
                <a:tc>
                  <a:txBody>
                    <a:bodyPr/>
                    <a:lstStyle/>
                    <a:p>
                      <a:endParaRPr lang="en-US" sz="1500" b="0" cap="all" spc="150">
                        <a:solidFill>
                          <a:schemeClr val="lt1"/>
                        </a:solidFill>
                      </a:endParaRPr>
                    </a:p>
                  </a:txBody>
                  <a:tcPr marL="130250" marR="130250" marT="130250" marB="1302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cap="all" spc="150">
                          <a:solidFill>
                            <a:schemeClr val="lt1"/>
                          </a:solidFill>
                        </a:rPr>
                        <a:t>return</a:t>
                      </a:r>
                    </a:p>
                  </a:txBody>
                  <a:tcPr marL="130250" marR="130250" marT="130250" marB="1302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cap="all" spc="150">
                          <a:solidFill>
                            <a:schemeClr val="lt1"/>
                          </a:solidFill>
                        </a:rPr>
                        <a:t>daily_sentiment</a:t>
                      </a:r>
                    </a:p>
                  </a:txBody>
                  <a:tcPr marL="130250" marR="130250" marT="130250" marB="1302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cap="all" spc="150">
                          <a:solidFill>
                            <a:schemeClr val="lt1"/>
                          </a:solidFill>
                        </a:rPr>
                        <a:t>vix</a:t>
                      </a:r>
                    </a:p>
                  </a:txBody>
                  <a:tcPr marL="130250" marR="130250" marT="130250" marB="13025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count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647.0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647.0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647.0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0.036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19.412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std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0.015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0.159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10.542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min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-0.12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-1.0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9.15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25%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-0.004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-0.063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13.16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0.001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0.045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15.8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75%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0.007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0.137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20.555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373"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max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0.094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cap="none" spc="0">
                          <a:solidFill>
                            <a:schemeClr val="tx1"/>
                          </a:solidFill>
                        </a:rPr>
                        <a:t>82.69</a:t>
                      </a:r>
                    </a:p>
                  </a:txBody>
                  <a:tcPr marL="130250" marR="130250" marT="130250" marB="13025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Correlation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304E5-544A-24CB-0843-869F95FEE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53" y="1966293"/>
            <a:ext cx="5916492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Correlation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FFF342-8BD7-85F6-669B-38118D948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8947609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Regression Results (OLS)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11C44D6F-D5C7-D192-8F58-AB33969D8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45408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8127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Sentiment vs Return (Scatter)</a:t>
            </a:r>
          </a:p>
        </p:txBody>
      </p:sp>
      <p:pic>
        <p:nvPicPr>
          <p:cNvPr id="3" name="Picture 2" descr="scatter_sentiment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98" y="1966293"/>
            <a:ext cx="5600201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VIX vs S&amp;P 500 Returns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783E3-E679-FEC9-D333-F7D9FDFD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6" y="1966293"/>
            <a:ext cx="6292806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53789"/>
            <a:ext cx="650286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Rolling Sentiment Trend (30-day)</a:t>
            </a:r>
          </a:p>
        </p:txBody>
      </p:sp>
      <p:pic>
        <p:nvPicPr>
          <p:cNvPr id="3" name="Picture 2" descr="rolling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068457"/>
            <a:ext cx="8495662" cy="42478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Challenges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C6F2382-B811-7462-AFA0-7E99EA893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44416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374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Finility: News Sentiment, VIX, and S&amp;P 500 Returns (2017–2020)</vt:lpstr>
      <vt:lpstr>Data Sources (Aligned to 2017–2020)</vt:lpstr>
      <vt:lpstr>Summary Statistics</vt:lpstr>
      <vt:lpstr>Correlation Matrix</vt:lpstr>
      <vt:lpstr>Correlation Insights</vt:lpstr>
      <vt:lpstr>Regression Results (OLS)</vt:lpstr>
      <vt:lpstr>Sentiment vs Return (Scatter)</vt:lpstr>
      <vt:lpstr>VIX vs S&amp;P 500 Returns</vt:lpstr>
      <vt:lpstr>Rolling Sentiment Trend (30-day)</vt:lpstr>
      <vt:lpstr>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Shukla</cp:lastModifiedBy>
  <cp:revision>3</cp:revision>
  <dcterms:created xsi:type="dcterms:W3CDTF">2013-01-27T09:14:16Z</dcterms:created>
  <dcterms:modified xsi:type="dcterms:W3CDTF">2025-11-22T06:05:18Z</dcterms:modified>
  <cp:category/>
</cp:coreProperties>
</file>